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5.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70" r:id="rId12"/>
    <p:sldId id="271" r:id="rId13"/>
    <p:sldId id="272" r:id="rId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2" d="100"/>
          <a:sy n="72" d="100"/>
        </p:scale>
        <p:origin x="636" y="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1F5F"/>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1F5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9"/>
          </a:xfrm>
          <a:prstGeom prst="rect">
            <a:avLst/>
          </a:prstGeom>
        </p:spPr>
      </p:pic>
      <p:sp>
        <p:nvSpPr>
          <p:cNvPr id="2" name="Holder 2"/>
          <p:cNvSpPr>
            <a:spLocks noGrp="1"/>
          </p:cNvSpPr>
          <p:nvPr>
            <p:ph type="title"/>
          </p:nvPr>
        </p:nvSpPr>
        <p:spPr>
          <a:xfrm>
            <a:off x="4668011" y="5055819"/>
            <a:ext cx="2855976" cy="756920"/>
          </a:xfrm>
          <a:prstGeom prst="rect">
            <a:avLst/>
          </a:prstGeom>
        </p:spPr>
        <p:txBody>
          <a:bodyPr wrap="square" lIns="0" tIns="0" rIns="0" bIns="0">
            <a:spAutoFit/>
          </a:bodyPr>
          <a:lstStyle>
            <a:lvl1pPr>
              <a:defRPr sz="48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a:xfrm>
            <a:off x="536486" y="1606803"/>
            <a:ext cx="11288395" cy="28143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spd="slow">
    <p:wipe/>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38015" y="0"/>
            <a:ext cx="4000499" cy="2657855"/>
          </a:xfrm>
          <a:prstGeom prst="rect">
            <a:avLst/>
          </a:prstGeom>
        </p:spPr>
      </p:pic>
      <p:sp>
        <p:nvSpPr>
          <p:cNvPr id="3" name="object 3"/>
          <p:cNvSpPr txBox="1">
            <a:spLocks noGrp="1"/>
          </p:cNvSpPr>
          <p:nvPr>
            <p:ph type="title"/>
          </p:nvPr>
        </p:nvSpPr>
        <p:spPr>
          <a:xfrm>
            <a:off x="852627" y="2783586"/>
            <a:ext cx="10480040" cy="1244600"/>
          </a:xfrm>
          <a:prstGeom prst="rect">
            <a:avLst/>
          </a:prstGeom>
        </p:spPr>
        <p:txBody>
          <a:bodyPr vert="horz" wrap="square" lIns="0" tIns="12065" rIns="0" bIns="0" rtlCol="0">
            <a:spAutoFit/>
          </a:bodyPr>
          <a:lstStyle/>
          <a:p>
            <a:pPr marL="586740" marR="5080" indent="-574675">
              <a:lnSpc>
                <a:spcPct val="100000"/>
              </a:lnSpc>
              <a:spcBef>
                <a:spcPts val="95"/>
              </a:spcBef>
            </a:pPr>
            <a:r>
              <a:rPr sz="4000" spc="-5" dirty="0">
                <a:solidFill>
                  <a:srgbClr val="FFFAEF"/>
                </a:solidFill>
              </a:rPr>
              <a:t>Department of Computer Science &amp;Engineering </a:t>
            </a:r>
            <a:r>
              <a:rPr sz="4000" spc="-985" dirty="0">
                <a:solidFill>
                  <a:srgbClr val="FFFAEF"/>
                </a:solidFill>
              </a:rPr>
              <a:t> </a:t>
            </a:r>
            <a:r>
              <a:rPr sz="4000" spc="-5" dirty="0">
                <a:solidFill>
                  <a:srgbClr val="FFFAEF"/>
                </a:solidFill>
              </a:rPr>
              <a:t>Artificial</a:t>
            </a:r>
            <a:r>
              <a:rPr sz="4000" spc="5" dirty="0">
                <a:solidFill>
                  <a:srgbClr val="FFFAEF"/>
                </a:solidFill>
              </a:rPr>
              <a:t> </a:t>
            </a:r>
            <a:r>
              <a:rPr sz="4000" spc="-5" dirty="0">
                <a:solidFill>
                  <a:srgbClr val="FFFAEF"/>
                </a:solidFill>
              </a:rPr>
              <a:t>Intelligence</a:t>
            </a:r>
            <a:r>
              <a:rPr sz="4000" dirty="0">
                <a:solidFill>
                  <a:srgbClr val="FFFAEF"/>
                </a:solidFill>
              </a:rPr>
              <a:t> </a:t>
            </a:r>
            <a:r>
              <a:rPr sz="4000" spc="-5" dirty="0">
                <a:solidFill>
                  <a:srgbClr val="FFFAEF"/>
                </a:solidFill>
              </a:rPr>
              <a:t>&amp;</a:t>
            </a:r>
            <a:r>
              <a:rPr sz="4000" spc="5" dirty="0">
                <a:solidFill>
                  <a:srgbClr val="FFFAEF"/>
                </a:solidFill>
              </a:rPr>
              <a:t> </a:t>
            </a:r>
            <a:r>
              <a:rPr sz="4000" spc="-5" dirty="0">
                <a:solidFill>
                  <a:srgbClr val="FFFAEF"/>
                </a:solidFill>
              </a:rPr>
              <a:t>Machine</a:t>
            </a:r>
            <a:r>
              <a:rPr sz="4000" spc="5" dirty="0">
                <a:solidFill>
                  <a:srgbClr val="FFFAEF"/>
                </a:solidFill>
              </a:rPr>
              <a:t> </a:t>
            </a:r>
            <a:r>
              <a:rPr sz="4000" spc="-5" dirty="0">
                <a:solidFill>
                  <a:srgbClr val="FFFAEF"/>
                </a:solidFill>
              </a:rPr>
              <a:t>Learning</a:t>
            </a:r>
            <a:endParaRPr sz="4000"/>
          </a:p>
        </p:txBody>
      </p:sp>
      <p:sp>
        <p:nvSpPr>
          <p:cNvPr id="4" name="object 4"/>
          <p:cNvSpPr txBox="1"/>
          <p:nvPr/>
        </p:nvSpPr>
        <p:spPr>
          <a:xfrm>
            <a:off x="1745742" y="4006088"/>
            <a:ext cx="8702675" cy="1977389"/>
          </a:xfrm>
          <a:prstGeom prst="rect">
            <a:avLst/>
          </a:prstGeom>
        </p:spPr>
        <p:txBody>
          <a:bodyPr vert="horz" wrap="square" lIns="0" tIns="12700" rIns="0" bIns="0" rtlCol="0">
            <a:spAutoFit/>
          </a:bodyPr>
          <a:lstStyle/>
          <a:p>
            <a:pPr marL="12700" marR="5080" indent="1600200">
              <a:lnSpc>
                <a:spcPct val="100000"/>
              </a:lnSpc>
              <a:spcBef>
                <a:spcPts val="100"/>
              </a:spcBef>
            </a:pPr>
            <a:r>
              <a:rPr sz="3200" spc="-90" dirty="0">
                <a:solidFill>
                  <a:srgbClr val="FFFAEF"/>
                </a:solidFill>
                <a:latin typeface="Times New Roman"/>
                <a:cs typeface="Times New Roman"/>
              </a:rPr>
              <a:t>A.P. </a:t>
            </a:r>
            <a:r>
              <a:rPr sz="3200" spc="-5" dirty="0">
                <a:solidFill>
                  <a:srgbClr val="FFFAEF"/>
                </a:solidFill>
                <a:latin typeface="Times New Roman"/>
                <a:cs typeface="Times New Roman"/>
              </a:rPr>
              <a:t>Shah </a:t>
            </a:r>
            <a:r>
              <a:rPr sz="3200" dirty="0">
                <a:solidFill>
                  <a:srgbClr val="FFFAEF"/>
                </a:solidFill>
                <a:latin typeface="Times New Roman"/>
                <a:cs typeface="Times New Roman"/>
              </a:rPr>
              <a:t>Institute of </a:t>
            </a:r>
            <a:r>
              <a:rPr sz="3200" spc="-25" dirty="0">
                <a:solidFill>
                  <a:srgbClr val="FFFAEF"/>
                </a:solidFill>
                <a:latin typeface="Times New Roman"/>
                <a:cs typeface="Times New Roman"/>
              </a:rPr>
              <a:t>Technology </a:t>
            </a:r>
            <a:r>
              <a:rPr sz="3200" spc="-20" dirty="0">
                <a:solidFill>
                  <a:srgbClr val="FFFAEF"/>
                </a:solidFill>
                <a:latin typeface="Times New Roman"/>
                <a:cs typeface="Times New Roman"/>
              </a:rPr>
              <a:t> </a:t>
            </a:r>
            <a:r>
              <a:rPr sz="3200" dirty="0">
                <a:solidFill>
                  <a:srgbClr val="FFFAEF"/>
                </a:solidFill>
                <a:latin typeface="Times New Roman"/>
                <a:cs typeface="Times New Roman"/>
              </a:rPr>
              <a:t>G.B.Road,Kasarvadavli,</a:t>
            </a:r>
            <a:r>
              <a:rPr sz="3200" spc="-114" dirty="0">
                <a:solidFill>
                  <a:srgbClr val="FFFAEF"/>
                </a:solidFill>
                <a:latin typeface="Times New Roman"/>
                <a:cs typeface="Times New Roman"/>
              </a:rPr>
              <a:t> </a:t>
            </a:r>
            <a:r>
              <a:rPr sz="3200" dirty="0">
                <a:solidFill>
                  <a:srgbClr val="FFFAEF"/>
                </a:solidFill>
                <a:latin typeface="Times New Roman"/>
                <a:cs typeface="Times New Roman"/>
              </a:rPr>
              <a:t>Thane(W),</a:t>
            </a:r>
            <a:r>
              <a:rPr sz="3200" spc="-35" dirty="0">
                <a:solidFill>
                  <a:srgbClr val="FFFAEF"/>
                </a:solidFill>
                <a:latin typeface="Times New Roman"/>
                <a:cs typeface="Times New Roman"/>
              </a:rPr>
              <a:t> </a:t>
            </a:r>
            <a:r>
              <a:rPr sz="3200" dirty="0">
                <a:solidFill>
                  <a:srgbClr val="FFFAEF"/>
                </a:solidFill>
                <a:latin typeface="Times New Roman"/>
                <a:cs typeface="Times New Roman"/>
              </a:rPr>
              <a:t>Mumbai-400615</a:t>
            </a:r>
            <a:endParaRPr sz="3200" dirty="0">
              <a:latin typeface="Times New Roman"/>
              <a:cs typeface="Times New Roman"/>
            </a:endParaRPr>
          </a:p>
          <a:p>
            <a:pPr algn="ctr">
              <a:lnSpc>
                <a:spcPct val="100000"/>
              </a:lnSpc>
              <a:spcBef>
                <a:spcPts val="5"/>
              </a:spcBef>
            </a:pPr>
            <a:r>
              <a:rPr sz="3200" dirty="0">
                <a:solidFill>
                  <a:srgbClr val="FFFAEF"/>
                </a:solidFill>
                <a:latin typeface="Times New Roman"/>
                <a:cs typeface="Times New Roman"/>
              </a:rPr>
              <a:t>UNIVERSITY</a:t>
            </a:r>
            <a:r>
              <a:rPr sz="3200" spc="-185" dirty="0">
                <a:solidFill>
                  <a:srgbClr val="FFFAEF"/>
                </a:solidFill>
                <a:latin typeface="Times New Roman"/>
                <a:cs typeface="Times New Roman"/>
              </a:rPr>
              <a:t> </a:t>
            </a:r>
            <a:r>
              <a:rPr sz="3200" dirty="0">
                <a:solidFill>
                  <a:srgbClr val="FFFAEF"/>
                </a:solidFill>
                <a:latin typeface="Times New Roman"/>
                <a:cs typeface="Times New Roman"/>
              </a:rPr>
              <a:t>OF</a:t>
            </a:r>
            <a:r>
              <a:rPr sz="3200" spc="-35" dirty="0">
                <a:solidFill>
                  <a:srgbClr val="FFFAEF"/>
                </a:solidFill>
                <a:latin typeface="Times New Roman"/>
                <a:cs typeface="Times New Roman"/>
              </a:rPr>
              <a:t> </a:t>
            </a:r>
            <a:r>
              <a:rPr sz="3200" dirty="0">
                <a:solidFill>
                  <a:srgbClr val="FFFAEF"/>
                </a:solidFill>
                <a:latin typeface="Times New Roman"/>
                <a:cs typeface="Times New Roman"/>
              </a:rPr>
              <a:t>MUMBAI</a:t>
            </a:r>
            <a:endParaRPr sz="3200" dirty="0">
              <a:latin typeface="Times New Roman"/>
              <a:cs typeface="Times New Roman"/>
            </a:endParaRPr>
          </a:p>
          <a:p>
            <a:pPr algn="ctr">
              <a:lnSpc>
                <a:spcPct val="100000"/>
              </a:lnSpc>
            </a:pPr>
            <a:r>
              <a:rPr sz="3200" dirty="0">
                <a:solidFill>
                  <a:srgbClr val="FFFAEF"/>
                </a:solidFill>
                <a:latin typeface="Times New Roman"/>
                <a:cs typeface="Times New Roman"/>
              </a:rPr>
              <a:t>Academic</a:t>
            </a:r>
            <a:r>
              <a:rPr sz="3200" spc="-170" dirty="0">
                <a:solidFill>
                  <a:srgbClr val="FFFAEF"/>
                </a:solidFill>
                <a:latin typeface="Times New Roman"/>
                <a:cs typeface="Times New Roman"/>
              </a:rPr>
              <a:t> </a:t>
            </a:r>
            <a:r>
              <a:rPr sz="3200" spc="-80" dirty="0">
                <a:solidFill>
                  <a:srgbClr val="FFFAEF"/>
                </a:solidFill>
                <a:latin typeface="Times New Roman"/>
                <a:cs typeface="Times New Roman"/>
              </a:rPr>
              <a:t>Year</a:t>
            </a:r>
            <a:r>
              <a:rPr sz="3200" spc="-10" dirty="0">
                <a:solidFill>
                  <a:srgbClr val="FFFAEF"/>
                </a:solidFill>
                <a:latin typeface="Times New Roman"/>
                <a:cs typeface="Times New Roman"/>
              </a:rPr>
              <a:t> </a:t>
            </a:r>
            <a:r>
              <a:rPr sz="3200" dirty="0" smtClean="0">
                <a:solidFill>
                  <a:srgbClr val="FFFAEF"/>
                </a:solidFill>
                <a:latin typeface="Times New Roman"/>
                <a:cs typeface="Times New Roman"/>
              </a:rPr>
              <a:t>202</a:t>
            </a:r>
            <a:r>
              <a:rPr lang="en-US" sz="3200" dirty="0" smtClean="0">
                <a:solidFill>
                  <a:srgbClr val="FFFAEF"/>
                </a:solidFill>
                <a:latin typeface="Times New Roman"/>
                <a:cs typeface="Times New Roman"/>
              </a:rPr>
              <a:t>3</a:t>
            </a:r>
            <a:r>
              <a:rPr sz="3200" dirty="0" smtClean="0">
                <a:solidFill>
                  <a:srgbClr val="FFFAEF"/>
                </a:solidFill>
                <a:latin typeface="Times New Roman"/>
                <a:cs typeface="Times New Roman"/>
              </a:rPr>
              <a:t>-202</a:t>
            </a:r>
            <a:r>
              <a:rPr lang="en-US" sz="3200" dirty="0" smtClean="0">
                <a:solidFill>
                  <a:srgbClr val="FFFAEF"/>
                </a:solidFill>
                <a:latin typeface="Times New Roman"/>
                <a:cs typeface="Times New Roman"/>
              </a:rPr>
              <a:t>4</a:t>
            </a:r>
            <a:endParaRPr sz="3200" dirty="0">
              <a:latin typeface="Times New Roman"/>
              <a:cs typeface="Times New Roman"/>
            </a:endParaRPr>
          </a:p>
        </p:txBody>
      </p:sp>
    </p:spTree>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406394"/>
            <a:ext cx="12192000" cy="4451985"/>
          </a:xfrm>
          <a:custGeom>
            <a:avLst/>
            <a:gdLst/>
            <a:ahLst/>
            <a:cxnLst/>
            <a:rect l="l" t="t" r="r" b="b"/>
            <a:pathLst>
              <a:path w="12192000" h="4451984">
                <a:moveTo>
                  <a:pt x="12192000" y="0"/>
                </a:moveTo>
                <a:lnTo>
                  <a:pt x="0" y="0"/>
                </a:lnTo>
                <a:lnTo>
                  <a:pt x="0" y="4451602"/>
                </a:lnTo>
                <a:lnTo>
                  <a:pt x="12192000" y="4451602"/>
                </a:lnTo>
                <a:lnTo>
                  <a:pt x="12192000" y="0"/>
                </a:lnTo>
                <a:close/>
              </a:path>
            </a:pathLst>
          </a:custGeom>
          <a:solidFill>
            <a:srgbClr val="000000"/>
          </a:solidFill>
        </p:spPr>
        <p:txBody>
          <a:bodyPr wrap="square" lIns="0" tIns="0" rIns="0" bIns="0" rtlCol="0"/>
          <a:lstStyle/>
          <a:p>
            <a:endParaRPr/>
          </a:p>
        </p:txBody>
      </p:sp>
      <p:sp>
        <p:nvSpPr>
          <p:cNvPr id="3" name="object 3"/>
          <p:cNvSpPr/>
          <p:nvPr/>
        </p:nvSpPr>
        <p:spPr>
          <a:xfrm>
            <a:off x="0" y="0"/>
            <a:ext cx="12192000" cy="2406393"/>
          </a:xfrm>
          <a:custGeom>
            <a:avLst/>
            <a:gdLst/>
            <a:ahLst/>
            <a:cxnLst/>
            <a:rect l="l" t="t" r="r" b="b"/>
            <a:pathLst>
              <a:path w="12192000" h="2286000">
                <a:moveTo>
                  <a:pt x="12192000" y="0"/>
                </a:moveTo>
                <a:lnTo>
                  <a:pt x="0" y="0"/>
                </a:lnTo>
                <a:lnTo>
                  <a:pt x="0" y="2285999"/>
                </a:lnTo>
                <a:lnTo>
                  <a:pt x="12192000" y="2285999"/>
                </a:lnTo>
                <a:lnTo>
                  <a:pt x="12192000" y="0"/>
                </a:lnTo>
                <a:close/>
              </a:path>
            </a:pathLst>
          </a:custGeom>
          <a:solidFill>
            <a:srgbClr val="24A69A"/>
          </a:solidFill>
        </p:spPr>
        <p:txBody>
          <a:bodyPr wrap="square" lIns="0" tIns="0" rIns="0" bIns="0" rtlCol="0"/>
          <a:lstStyle/>
          <a:p>
            <a:endParaRPr dirty="0"/>
          </a:p>
        </p:txBody>
      </p:sp>
      <p:sp>
        <p:nvSpPr>
          <p:cNvPr id="4" name="object 4"/>
          <p:cNvSpPr/>
          <p:nvPr/>
        </p:nvSpPr>
        <p:spPr>
          <a:xfrm>
            <a:off x="858774" y="4807458"/>
            <a:ext cx="520065" cy="13970"/>
          </a:xfrm>
          <a:custGeom>
            <a:avLst/>
            <a:gdLst/>
            <a:ahLst/>
            <a:cxnLst/>
            <a:rect l="l" t="t" r="r" b="b"/>
            <a:pathLst>
              <a:path w="520065" h="13970">
                <a:moveTo>
                  <a:pt x="0" y="0"/>
                </a:moveTo>
                <a:lnTo>
                  <a:pt x="519684" y="13716"/>
                </a:lnTo>
              </a:path>
            </a:pathLst>
          </a:custGeom>
          <a:ln w="28955">
            <a:solidFill>
              <a:srgbClr val="FFF9EE"/>
            </a:solidFill>
          </a:ln>
        </p:spPr>
        <p:txBody>
          <a:bodyPr wrap="square" lIns="0" tIns="0" rIns="0" bIns="0" rtlCol="0"/>
          <a:lstStyle/>
          <a:p>
            <a:endParaRPr/>
          </a:p>
        </p:txBody>
      </p:sp>
      <p:sp>
        <p:nvSpPr>
          <p:cNvPr id="6" name="object 6"/>
          <p:cNvSpPr txBox="1">
            <a:spLocks noGrp="1"/>
          </p:cNvSpPr>
          <p:nvPr>
            <p:ph type="title"/>
          </p:nvPr>
        </p:nvSpPr>
        <p:spPr>
          <a:xfrm>
            <a:off x="3124200" y="1201674"/>
            <a:ext cx="5403213" cy="513715"/>
          </a:xfrm>
          <a:prstGeom prst="rect">
            <a:avLst/>
          </a:prstGeom>
        </p:spPr>
        <p:txBody>
          <a:bodyPr vert="horz" wrap="square" lIns="0" tIns="13335" rIns="0" bIns="0" rtlCol="0">
            <a:spAutoFit/>
          </a:bodyPr>
          <a:lstStyle/>
          <a:p>
            <a:pPr marL="12700">
              <a:lnSpc>
                <a:spcPct val="100000"/>
              </a:lnSpc>
              <a:spcBef>
                <a:spcPts val="105"/>
              </a:spcBef>
              <a:tabLst>
                <a:tab pos="2003425" algn="l"/>
              </a:tabLst>
            </a:pPr>
            <a:r>
              <a:rPr lang="en-US" sz="3200" spc="380" dirty="0" smtClean="0">
                <a:solidFill>
                  <a:srgbClr val="FFFFFF"/>
                </a:solidFill>
                <a:latin typeface="Cambria"/>
                <a:cs typeface="Cambria"/>
              </a:rPr>
              <a:t>House </a:t>
            </a:r>
            <a:r>
              <a:rPr lang="en-US" sz="3200" spc="380" dirty="0">
                <a:solidFill>
                  <a:srgbClr val="FFFFFF"/>
                </a:solidFill>
                <a:latin typeface="Cambria"/>
                <a:cs typeface="Cambria"/>
              </a:rPr>
              <a:t>P</a:t>
            </a:r>
            <a:r>
              <a:rPr lang="en-US" sz="3200" spc="380" dirty="0" smtClean="0">
                <a:solidFill>
                  <a:srgbClr val="FFFFFF"/>
                </a:solidFill>
                <a:latin typeface="Cambria"/>
                <a:cs typeface="Cambria"/>
              </a:rPr>
              <a:t>rice Predictor</a:t>
            </a:r>
            <a:endParaRPr sz="3200" dirty="0">
              <a:latin typeface="Cambria"/>
              <a:cs typeface="Cambria"/>
            </a:endParaRPr>
          </a:p>
        </p:txBody>
      </p:sp>
      <p:sp>
        <p:nvSpPr>
          <p:cNvPr id="7" name="object 7"/>
          <p:cNvSpPr txBox="1"/>
          <p:nvPr/>
        </p:nvSpPr>
        <p:spPr>
          <a:xfrm>
            <a:off x="2670429" y="2697607"/>
            <a:ext cx="5824855" cy="3676015"/>
          </a:xfrm>
          <a:prstGeom prst="rect">
            <a:avLst/>
          </a:prstGeom>
        </p:spPr>
        <p:txBody>
          <a:bodyPr vert="horz" wrap="square" lIns="0" tIns="33020" rIns="0" bIns="0" rtlCol="0">
            <a:spAutoFit/>
          </a:bodyPr>
          <a:lstStyle/>
          <a:p>
            <a:pPr marL="12700" marR="5080" indent="723900">
              <a:lnSpc>
                <a:spcPts val="2800"/>
              </a:lnSpc>
              <a:spcBef>
                <a:spcPts val="260"/>
              </a:spcBef>
            </a:pPr>
            <a:r>
              <a:rPr sz="2400" b="1" spc="-25" dirty="0">
                <a:solidFill>
                  <a:srgbClr val="FFF9EE"/>
                </a:solidFill>
                <a:latin typeface="Times New Roman"/>
                <a:cs typeface="Times New Roman"/>
              </a:rPr>
              <a:t>Computer </a:t>
            </a:r>
            <a:r>
              <a:rPr sz="2400" b="1" spc="5" dirty="0">
                <a:solidFill>
                  <a:srgbClr val="FFF9EE"/>
                </a:solidFill>
                <a:latin typeface="Times New Roman"/>
                <a:cs typeface="Times New Roman"/>
              </a:rPr>
              <a:t>Science </a:t>
            </a:r>
            <a:r>
              <a:rPr sz="2400" b="1" dirty="0">
                <a:solidFill>
                  <a:srgbClr val="FFF9EE"/>
                </a:solidFill>
                <a:latin typeface="Times New Roman"/>
                <a:cs typeface="Times New Roman"/>
              </a:rPr>
              <a:t>&amp; </a:t>
            </a:r>
            <a:r>
              <a:rPr sz="2400" b="1" spc="-5" dirty="0">
                <a:solidFill>
                  <a:srgbClr val="FFF9EE"/>
                </a:solidFill>
                <a:latin typeface="Times New Roman"/>
                <a:cs typeface="Times New Roman"/>
              </a:rPr>
              <a:t>Engineering </a:t>
            </a:r>
            <a:r>
              <a:rPr sz="2400" b="1" dirty="0">
                <a:solidFill>
                  <a:srgbClr val="FFF9EE"/>
                </a:solidFill>
                <a:latin typeface="Times New Roman"/>
                <a:cs typeface="Times New Roman"/>
              </a:rPr>
              <a:t> </a:t>
            </a:r>
            <a:r>
              <a:rPr sz="2400" b="1" dirty="0" smtClean="0">
                <a:solidFill>
                  <a:srgbClr val="FFF9EE"/>
                </a:solidFill>
                <a:latin typeface="Times New Roman"/>
                <a:cs typeface="Times New Roman"/>
              </a:rPr>
              <a:t>Artificial</a:t>
            </a:r>
            <a:r>
              <a:rPr sz="2400" b="1" spc="-125" dirty="0" smtClean="0">
                <a:solidFill>
                  <a:srgbClr val="FFF9EE"/>
                </a:solidFill>
                <a:latin typeface="Times New Roman"/>
                <a:cs typeface="Times New Roman"/>
              </a:rPr>
              <a:t> </a:t>
            </a:r>
            <a:r>
              <a:rPr sz="2400" b="1" dirty="0" smtClean="0">
                <a:solidFill>
                  <a:srgbClr val="FFF9EE"/>
                </a:solidFill>
                <a:latin typeface="Times New Roman"/>
                <a:cs typeface="Times New Roman"/>
              </a:rPr>
              <a:t>Intelligence</a:t>
            </a:r>
            <a:r>
              <a:rPr sz="2400" b="1" spc="-110" dirty="0" smtClean="0">
                <a:solidFill>
                  <a:srgbClr val="FFF9EE"/>
                </a:solidFill>
                <a:latin typeface="Times New Roman"/>
                <a:cs typeface="Times New Roman"/>
              </a:rPr>
              <a:t> </a:t>
            </a:r>
            <a:r>
              <a:rPr sz="2400" b="1" spc="-15" dirty="0">
                <a:solidFill>
                  <a:srgbClr val="FFF9EE"/>
                </a:solidFill>
                <a:latin typeface="Times New Roman"/>
                <a:cs typeface="Times New Roman"/>
              </a:rPr>
              <a:t>and</a:t>
            </a:r>
            <a:r>
              <a:rPr sz="2400" b="1" spc="-60" dirty="0">
                <a:solidFill>
                  <a:srgbClr val="FFF9EE"/>
                </a:solidFill>
                <a:latin typeface="Times New Roman"/>
                <a:cs typeface="Times New Roman"/>
              </a:rPr>
              <a:t> </a:t>
            </a:r>
            <a:r>
              <a:rPr sz="2400" b="1" dirty="0">
                <a:solidFill>
                  <a:srgbClr val="FFF9EE"/>
                </a:solidFill>
                <a:latin typeface="Times New Roman"/>
                <a:cs typeface="Times New Roman"/>
              </a:rPr>
              <a:t>Machine</a:t>
            </a:r>
            <a:r>
              <a:rPr sz="2400" b="1" spc="10" dirty="0">
                <a:solidFill>
                  <a:srgbClr val="FFF9EE"/>
                </a:solidFill>
                <a:latin typeface="Times New Roman"/>
                <a:cs typeface="Times New Roman"/>
              </a:rPr>
              <a:t> </a:t>
            </a:r>
            <a:r>
              <a:rPr sz="2400" b="1" dirty="0">
                <a:solidFill>
                  <a:srgbClr val="FFF9EE"/>
                </a:solidFill>
                <a:latin typeface="Times New Roman"/>
                <a:cs typeface="Times New Roman"/>
              </a:rPr>
              <a:t>Learning</a:t>
            </a:r>
            <a:endParaRPr sz="2400" dirty="0">
              <a:latin typeface="Times New Roman"/>
              <a:cs typeface="Times New Roman"/>
            </a:endParaRPr>
          </a:p>
          <a:p>
            <a:pPr algn="ctr">
              <a:lnSpc>
                <a:spcPts val="2725"/>
              </a:lnSpc>
            </a:pPr>
            <a:r>
              <a:rPr sz="2400" spc="-20" dirty="0">
                <a:solidFill>
                  <a:srgbClr val="FFF9EE"/>
                </a:solidFill>
                <a:latin typeface="Times New Roman"/>
                <a:cs typeface="Times New Roman"/>
              </a:rPr>
              <a:t>By</a:t>
            </a:r>
            <a:endParaRPr sz="2400" dirty="0">
              <a:latin typeface="Times New Roman"/>
              <a:cs typeface="Times New Roman"/>
            </a:endParaRPr>
          </a:p>
          <a:p>
            <a:pPr algn="ctr">
              <a:lnSpc>
                <a:spcPct val="100000"/>
              </a:lnSpc>
            </a:pPr>
            <a:r>
              <a:rPr lang="en-US" sz="2400" spc="-265" dirty="0" smtClean="0">
                <a:solidFill>
                  <a:srgbClr val="FFF9EE"/>
                </a:solidFill>
                <a:latin typeface="Times New Roman"/>
                <a:cs typeface="Times New Roman"/>
              </a:rPr>
              <a:t>Khushi  Dhargawe</a:t>
            </a:r>
            <a:r>
              <a:rPr sz="2400" spc="-80" dirty="0" smtClean="0">
                <a:solidFill>
                  <a:srgbClr val="FFF9EE"/>
                </a:solidFill>
                <a:latin typeface="Times New Roman"/>
                <a:cs typeface="Times New Roman"/>
              </a:rPr>
              <a:t> </a:t>
            </a:r>
            <a:r>
              <a:rPr sz="2400" dirty="0">
                <a:solidFill>
                  <a:srgbClr val="FFF9EE"/>
                </a:solidFill>
                <a:latin typeface="Times New Roman"/>
                <a:cs typeface="Times New Roman"/>
              </a:rPr>
              <a:t>(</a:t>
            </a:r>
            <a:r>
              <a:rPr sz="2400" spc="-15" dirty="0" smtClean="0">
                <a:solidFill>
                  <a:srgbClr val="FFF9EE"/>
                </a:solidFill>
                <a:latin typeface="Times New Roman"/>
                <a:cs typeface="Times New Roman"/>
              </a:rPr>
              <a:t>2</a:t>
            </a:r>
            <a:r>
              <a:rPr sz="2400" spc="-195" dirty="0" smtClean="0">
                <a:solidFill>
                  <a:srgbClr val="FFF9EE"/>
                </a:solidFill>
                <a:latin typeface="Times New Roman"/>
                <a:cs typeface="Times New Roman"/>
              </a:rPr>
              <a:t>1</a:t>
            </a:r>
            <a:r>
              <a:rPr sz="2400" dirty="0" smtClean="0">
                <a:solidFill>
                  <a:srgbClr val="FFF9EE"/>
                </a:solidFill>
                <a:latin typeface="Times New Roman"/>
                <a:cs typeface="Times New Roman"/>
              </a:rPr>
              <a:t>10</a:t>
            </a:r>
            <a:r>
              <a:rPr sz="2400" spc="-10" dirty="0" smtClean="0">
                <a:solidFill>
                  <a:srgbClr val="FFF9EE"/>
                </a:solidFill>
                <a:latin typeface="Times New Roman"/>
                <a:cs typeface="Times New Roman"/>
              </a:rPr>
              <a:t>6</a:t>
            </a:r>
            <a:r>
              <a:rPr sz="2400" dirty="0" smtClean="0">
                <a:solidFill>
                  <a:srgbClr val="FFF9EE"/>
                </a:solidFill>
                <a:latin typeface="Times New Roman"/>
                <a:cs typeface="Times New Roman"/>
              </a:rPr>
              <a:t>0</a:t>
            </a:r>
            <a:r>
              <a:rPr lang="en-US" sz="2400" dirty="0" smtClean="0">
                <a:solidFill>
                  <a:srgbClr val="FFF9EE"/>
                </a:solidFill>
                <a:latin typeface="Times New Roman"/>
                <a:cs typeface="Times New Roman"/>
              </a:rPr>
              <a:t>07</a:t>
            </a:r>
            <a:r>
              <a:rPr sz="2400" dirty="0" smtClean="0">
                <a:solidFill>
                  <a:srgbClr val="FFF9EE"/>
                </a:solidFill>
                <a:latin typeface="Times New Roman"/>
                <a:cs typeface="Times New Roman"/>
              </a:rPr>
              <a:t>)</a:t>
            </a:r>
            <a:endParaRPr sz="2400" dirty="0">
              <a:latin typeface="Times New Roman"/>
              <a:cs typeface="Times New Roman"/>
            </a:endParaRPr>
          </a:p>
          <a:p>
            <a:pPr marL="635" algn="ctr">
              <a:lnSpc>
                <a:spcPct val="100000"/>
              </a:lnSpc>
            </a:pPr>
            <a:r>
              <a:rPr lang="en-US" sz="2400" spc="-40" dirty="0" smtClean="0">
                <a:solidFill>
                  <a:srgbClr val="FFF9EE"/>
                </a:solidFill>
                <a:latin typeface="Times New Roman"/>
                <a:cs typeface="Times New Roman"/>
              </a:rPr>
              <a:t>Mansi Ghanwat</a:t>
            </a:r>
            <a:r>
              <a:rPr sz="2400" dirty="0" smtClean="0">
                <a:solidFill>
                  <a:srgbClr val="FFF9EE"/>
                </a:solidFill>
                <a:latin typeface="Times New Roman"/>
                <a:cs typeface="Times New Roman"/>
              </a:rPr>
              <a:t>(</a:t>
            </a:r>
            <a:r>
              <a:rPr sz="2400" spc="-20" dirty="0" smtClean="0">
                <a:solidFill>
                  <a:srgbClr val="FFF9EE"/>
                </a:solidFill>
                <a:latin typeface="Times New Roman"/>
                <a:cs typeface="Times New Roman"/>
              </a:rPr>
              <a:t>2</a:t>
            </a:r>
            <a:r>
              <a:rPr sz="2400" spc="-100" dirty="0" smtClean="0">
                <a:solidFill>
                  <a:srgbClr val="FFF9EE"/>
                </a:solidFill>
                <a:latin typeface="Times New Roman"/>
                <a:cs typeface="Times New Roman"/>
              </a:rPr>
              <a:t>1</a:t>
            </a:r>
            <a:r>
              <a:rPr sz="2400" spc="-15" dirty="0" smtClean="0">
                <a:solidFill>
                  <a:srgbClr val="FFF9EE"/>
                </a:solidFill>
                <a:latin typeface="Times New Roman"/>
                <a:cs typeface="Times New Roman"/>
              </a:rPr>
              <a:t>106</a:t>
            </a:r>
            <a:r>
              <a:rPr sz="2400" spc="-10" dirty="0" smtClean="0">
                <a:solidFill>
                  <a:srgbClr val="FFF9EE"/>
                </a:solidFill>
                <a:latin typeface="Times New Roman"/>
                <a:cs typeface="Times New Roman"/>
              </a:rPr>
              <a:t>0</a:t>
            </a:r>
            <a:r>
              <a:rPr sz="2400" spc="-15" dirty="0" smtClean="0">
                <a:solidFill>
                  <a:srgbClr val="FFF9EE"/>
                </a:solidFill>
                <a:latin typeface="Times New Roman"/>
                <a:cs typeface="Times New Roman"/>
              </a:rPr>
              <a:t>2</a:t>
            </a:r>
            <a:r>
              <a:rPr lang="en-US" sz="2400" spc="-15" dirty="0" smtClean="0">
                <a:solidFill>
                  <a:srgbClr val="FFF9EE"/>
                </a:solidFill>
                <a:latin typeface="Times New Roman"/>
                <a:cs typeface="Times New Roman"/>
              </a:rPr>
              <a:t>8</a:t>
            </a:r>
            <a:r>
              <a:rPr sz="2400" dirty="0" smtClean="0">
                <a:solidFill>
                  <a:srgbClr val="FFF9EE"/>
                </a:solidFill>
                <a:latin typeface="Times New Roman"/>
                <a:cs typeface="Times New Roman"/>
              </a:rPr>
              <a:t>)</a:t>
            </a:r>
            <a:endParaRPr sz="2400" dirty="0">
              <a:latin typeface="Times New Roman"/>
              <a:cs typeface="Times New Roman"/>
            </a:endParaRPr>
          </a:p>
          <a:p>
            <a:pPr marL="635" algn="ctr">
              <a:lnSpc>
                <a:spcPct val="100000"/>
              </a:lnSpc>
            </a:pPr>
            <a:r>
              <a:rPr sz="2400" spc="-25" dirty="0">
                <a:solidFill>
                  <a:srgbClr val="FFF9EE"/>
                </a:solidFill>
                <a:latin typeface="Times New Roman"/>
                <a:cs typeface="Times New Roman"/>
              </a:rPr>
              <a:t>Shreyash</a:t>
            </a:r>
            <a:r>
              <a:rPr sz="2400" spc="-35" dirty="0">
                <a:solidFill>
                  <a:srgbClr val="FFF9EE"/>
                </a:solidFill>
                <a:latin typeface="Times New Roman"/>
                <a:cs typeface="Times New Roman"/>
              </a:rPr>
              <a:t> </a:t>
            </a:r>
            <a:r>
              <a:rPr sz="2400" spc="-30" dirty="0">
                <a:solidFill>
                  <a:srgbClr val="FFF9EE"/>
                </a:solidFill>
                <a:latin typeface="Times New Roman"/>
                <a:cs typeface="Times New Roman"/>
              </a:rPr>
              <a:t>Gharge</a:t>
            </a:r>
            <a:r>
              <a:rPr sz="2400" spc="-20" dirty="0">
                <a:solidFill>
                  <a:srgbClr val="FFF9EE"/>
                </a:solidFill>
                <a:latin typeface="Times New Roman"/>
                <a:cs typeface="Times New Roman"/>
              </a:rPr>
              <a:t> </a:t>
            </a:r>
            <a:r>
              <a:rPr sz="2400" spc="-25" dirty="0">
                <a:solidFill>
                  <a:srgbClr val="FFF9EE"/>
                </a:solidFill>
                <a:latin typeface="Times New Roman"/>
                <a:cs typeface="Times New Roman"/>
              </a:rPr>
              <a:t>(21106063)</a:t>
            </a:r>
            <a:endParaRPr sz="2400" dirty="0">
              <a:latin typeface="Times New Roman"/>
              <a:cs typeface="Times New Roman"/>
            </a:endParaRPr>
          </a:p>
          <a:p>
            <a:pPr marL="5715" algn="ctr">
              <a:lnSpc>
                <a:spcPct val="100000"/>
              </a:lnSpc>
            </a:pPr>
            <a:r>
              <a:rPr sz="2400" spc="-55" dirty="0">
                <a:solidFill>
                  <a:srgbClr val="FFF9EE"/>
                </a:solidFill>
                <a:latin typeface="Times New Roman"/>
                <a:cs typeface="Times New Roman"/>
              </a:rPr>
              <a:t>P</a:t>
            </a:r>
            <a:r>
              <a:rPr sz="2400" spc="-45" dirty="0">
                <a:solidFill>
                  <a:srgbClr val="FFF9EE"/>
                </a:solidFill>
                <a:latin typeface="Times New Roman"/>
                <a:cs typeface="Times New Roman"/>
              </a:rPr>
              <a:t>r</a:t>
            </a:r>
            <a:r>
              <a:rPr sz="2400" spc="-50" dirty="0">
                <a:solidFill>
                  <a:srgbClr val="FFF9EE"/>
                </a:solidFill>
                <a:latin typeface="Times New Roman"/>
                <a:cs typeface="Times New Roman"/>
              </a:rPr>
              <a:t>abud</a:t>
            </a:r>
            <a:r>
              <a:rPr sz="2400" dirty="0">
                <a:solidFill>
                  <a:srgbClr val="FFF9EE"/>
                </a:solidFill>
                <a:latin typeface="Times New Roman"/>
                <a:cs typeface="Times New Roman"/>
              </a:rPr>
              <a:t>h</a:t>
            </a:r>
            <a:r>
              <a:rPr sz="2400" spc="-100" dirty="0">
                <a:solidFill>
                  <a:srgbClr val="FFF9EE"/>
                </a:solidFill>
                <a:latin typeface="Times New Roman"/>
                <a:cs typeface="Times New Roman"/>
              </a:rPr>
              <a:t> </a:t>
            </a:r>
            <a:r>
              <a:rPr sz="2400" spc="-60" dirty="0">
                <a:solidFill>
                  <a:srgbClr val="FFF9EE"/>
                </a:solidFill>
                <a:latin typeface="Times New Roman"/>
                <a:cs typeface="Times New Roman"/>
              </a:rPr>
              <a:t>G</a:t>
            </a:r>
            <a:r>
              <a:rPr sz="2400" spc="-50" dirty="0">
                <a:solidFill>
                  <a:srgbClr val="FFF9EE"/>
                </a:solidFill>
                <a:latin typeface="Times New Roman"/>
                <a:cs typeface="Times New Roman"/>
              </a:rPr>
              <a:t>a</a:t>
            </a:r>
            <a:r>
              <a:rPr sz="2400" spc="-45" dirty="0">
                <a:solidFill>
                  <a:srgbClr val="FFF9EE"/>
                </a:solidFill>
                <a:latin typeface="Times New Roman"/>
                <a:cs typeface="Times New Roman"/>
              </a:rPr>
              <a:t>i</a:t>
            </a:r>
            <a:r>
              <a:rPr sz="2400" spc="-50" dirty="0">
                <a:solidFill>
                  <a:srgbClr val="FFF9EE"/>
                </a:solidFill>
                <a:latin typeface="Times New Roman"/>
                <a:cs typeface="Times New Roman"/>
              </a:rPr>
              <a:t>k</a:t>
            </a:r>
            <a:r>
              <a:rPr sz="2400" spc="-60" dirty="0">
                <a:solidFill>
                  <a:srgbClr val="FFF9EE"/>
                </a:solidFill>
                <a:latin typeface="Times New Roman"/>
                <a:cs typeface="Times New Roman"/>
              </a:rPr>
              <a:t>w</a:t>
            </a:r>
            <a:r>
              <a:rPr sz="2400" spc="-50" dirty="0">
                <a:solidFill>
                  <a:srgbClr val="FFF9EE"/>
                </a:solidFill>
                <a:latin typeface="Times New Roman"/>
                <a:cs typeface="Times New Roman"/>
              </a:rPr>
              <a:t>a</a:t>
            </a:r>
            <a:r>
              <a:rPr sz="2400" dirty="0">
                <a:solidFill>
                  <a:srgbClr val="FFF9EE"/>
                </a:solidFill>
                <a:latin typeface="Times New Roman"/>
                <a:cs typeface="Times New Roman"/>
              </a:rPr>
              <a:t>d</a:t>
            </a:r>
            <a:r>
              <a:rPr sz="2400" spc="-90" dirty="0">
                <a:solidFill>
                  <a:srgbClr val="FFF9EE"/>
                </a:solidFill>
                <a:latin typeface="Times New Roman"/>
                <a:cs typeface="Times New Roman"/>
              </a:rPr>
              <a:t> </a:t>
            </a:r>
            <a:r>
              <a:rPr sz="2400" dirty="0">
                <a:solidFill>
                  <a:srgbClr val="FFF9EE"/>
                </a:solidFill>
                <a:latin typeface="Times New Roman"/>
                <a:cs typeface="Times New Roman"/>
              </a:rPr>
              <a:t>(2</a:t>
            </a:r>
            <a:r>
              <a:rPr sz="2400" spc="-85" dirty="0">
                <a:solidFill>
                  <a:srgbClr val="FFF9EE"/>
                </a:solidFill>
                <a:latin typeface="Times New Roman"/>
                <a:cs typeface="Times New Roman"/>
              </a:rPr>
              <a:t>1</a:t>
            </a:r>
            <a:r>
              <a:rPr sz="2400" dirty="0">
                <a:solidFill>
                  <a:srgbClr val="FFF9EE"/>
                </a:solidFill>
                <a:latin typeface="Times New Roman"/>
                <a:cs typeface="Times New Roman"/>
              </a:rPr>
              <a:t>106</a:t>
            </a:r>
            <a:r>
              <a:rPr sz="2400" spc="-5" dirty="0">
                <a:solidFill>
                  <a:srgbClr val="FFF9EE"/>
                </a:solidFill>
                <a:latin typeface="Times New Roman"/>
                <a:cs typeface="Times New Roman"/>
              </a:rPr>
              <a:t>038</a:t>
            </a:r>
            <a:r>
              <a:rPr sz="2400" dirty="0">
                <a:solidFill>
                  <a:srgbClr val="FFF9EE"/>
                </a:solidFill>
                <a:latin typeface="Times New Roman"/>
                <a:cs typeface="Times New Roman"/>
              </a:rPr>
              <a:t>)</a:t>
            </a:r>
            <a:endParaRPr sz="2400" dirty="0">
              <a:latin typeface="Times New Roman"/>
              <a:cs typeface="Times New Roman"/>
            </a:endParaRPr>
          </a:p>
          <a:p>
            <a:pPr>
              <a:lnSpc>
                <a:spcPct val="100000"/>
              </a:lnSpc>
              <a:spcBef>
                <a:spcPts val="45"/>
              </a:spcBef>
            </a:pPr>
            <a:endParaRPr sz="2550" dirty="0">
              <a:latin typeface="Times New Roman"/>
              <a:cs typeface="Times New Roman"/>
            </a:endParaRPr>
          </a:p>
          <a:p>
            <a:pPr marL="1533525" marR="1523365" algn="ctr">
              <a:lnSpc>
                <a:spcPct val="100000"/>
              </a:lnSpc>
            </a:pPr>
            <a:r>
              <a:rPr sz="2400" spc="-25" dirty="0">
                <a:solidFill>
                  <a:srgbClr val="FFF9EE"/>
                </a:solidFill>
                <a:latin typeface="Times New Roman"/>
                <a:cs typeface="Times New Roman"/>
              </a:rPr>
              <a:t>Under</a:t>
            </a:r>
            <a:r>
              <a:rPr sz="2400" dirty="0">
                <a:solidFill>
                  <a:srgbClr val="FFF9EE"/>
                </a:solidFill>
                <a:latin typeface="Times New Roman"/>
                <a:cs typeface="Times New Roman"/>
              </a:rPr>
              <a:t> </a:t>
            </a:r>
            <a:r>
              <a:rPr sz="2400" spc="5" dirty="0">
                <a:solidFill>
                  <a:srgbClr val="FFF9EE"/>
                </a:solidFill>
                <a:latin typeface="Times New Roman"/>
                <a:cs typeface="Times New Roman"/>
              </a:rPr>
              <a:t>the</a:t>
            </a:r>
            <a:r>
              <a:rPr sz="2400" spc="-105" dirty="0">
                <a:solidFill>
                  <a:srgbClr val="FFF9EE"/>
                </a:solidFill>
                <a:latin typeface="Times New Roman"/>
                <a:cs typeface="Times New Roman"/>
              </a:rPr>
              <a:t> </a:t>
            </a:r>
            <a:r>
              <a:rPr sz="2400" spc="-15" dirty="0">
                <a:solidFill>
                  <a:srgbClr val="FFF9EE"/>
                </a:solidFill>
                <a:latin typeface="Times New Roman"/>
                <a:cs typeface="Times New Roman"/>
              </a:rPr>
              <a:t>Guidance</a:t>
            </a:r>
            <a:r>
              <a:rPr sz="2400" dirty="0">
                <a:solidFill>
                  <a:srgbClr val="FFF9EE"/>
                </a:solidFill>
                <a:latin typeface="Times New Roman"/>
                <a:cs typeface="Times New Roman"/>
              </a:rPr>
              <a:t> of </a:t>
            </a:r>
            <a:r>
              <a:rPr sz="2400" spc="-585" dirty="0">
                <a:solidFill>
                  <a:srgbClr val="FFF9EE"/>
                </a:solidFill>
                <a:latin typeface="Times New Roman"/>
                <a:cs typeface="Times New Roman"/>
              </a:rPr>
              <a:t> </a:t>
            </a:r>
            <a:r>
              <a:rPr sz="2400" spc="-45" dirty="0">
                <a:solidFill>
                  <a:srgbClr val="FFF9EE"/>
                </a:solidFill>
                <a:latin typeface="Times New Roman"/>
                <a:cs typeface="Times New Roman"/>
              </a:rPr>
              <a:t>Prof.</a:t>
            </a:r>
            <a:r>
              <a:rPr sz="2400" spc="-85" dirty="0">
                <a:solidFill>
                  <a:srgbClr val="FFF9EE"/>
                </a:solidFill>
                <a:latin typeface="Times New Roman"/>
                <a:cs typeface="Times New Roman"/>
              </a:rPr>
              <a:t> </a:t>
            </a:r>
            <a:r>
              <a:rPr lang="en-US" sz="2400" spc="20" dirty="0" smtClean="0">
                <a:solidFill>
                  <a:srgbClr val="FFFFFF"/>
                </a:solidFill>
                <a:latin typeface="Cambria"/>
                <a:cs typeface="Times New Roman"/>
              </a:rPr>
              <a:t>M C </a:t>
            </a:r>
            <a:r>
              <a:rPr lang="en-US" sz="2400" spc="20" dirty="0" err="1" smtClean="0">
                <a:solidFill>
                  <a:srgbClr val="FFFFFF"/>
                </a:solidFill>
                <a:latin typeface="Cambria"/>
                <a:cs typeface="Times New Roman"/>
              </a:rPr>
              <a:t>Pawaskar</a:t>
            </a:r>
            <a:endParaRPr sz="2400" dirty="0">
              <a:latin typeface="Cambria"/>
              <a:cs typeface="Cambria"/>
            </a:endParaRPr>
          </a:p>
        </p:txBody>
      </p:sp>
      <p:pic>
        <p:nvPicPr>
          <p:cNvPr id="8" name="object 8"/>
          <p:cNvPicPr/>
          <p:nvPr/>
        </p:nvPicPr>
        <p:blipFill>
          <a:blip r:embed="rId2" cstate="print"/>
          <a:stretch>
            <a:fillRect/>
          </a:stretch>
        </p:blipFill>
        <p:spPr>
          <a:xfrm>
            <a:off x="509016" y="4450079"/>
            <a:ext cx="998219" cy="739140"/>
          </a:xfrm>
          <a:prstGeom prst="rect">
            <a:avLst/>
          </a:prstGeom>
        </p:spPr>
      </p:pic>
    </p:spTree>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0385" y="585292"/>
            <a:ext cx="1517015" cy="757555"/>
          </a:xfrm>
          <a:prstGeom prst="rect">
            <a:avLst/>
          </a:prstGeom>
        </p:spPr>
        <p:txBody>
          <a:bodyPr vert="horz" wrap="square" lIns="0" tIns="12700" rIns="0" bIns="0" rtlCol="0">
            <a:spAutoFit/>
          </a:bodyPr>
          <a:lstStyle/>
          <a:p>
            <a:pPr marL="12700">
              <a:lnSpc>
                <a:spcPct val="100000"/>
              </a:lnSpc>
              <a:spcBef>
                <a:spcPts val="100"/>
              </a:spcBef>
            </a:pPr>
            <a:r>
              <a:rPr dirty="0">
                <a:solidFill>
                  <a:srgbClr val="FFFF00"/>
                </a:solidFill>
              </a:rPr>
              <a:t>Index</a:t>
            </a:r>
          </a:p>
        </p:txBody>
      </p:sp>
      <p:sp>
        <p:nvSpPr>
          <p:cNvPr id="3" name="object 3"/>
          <p:cNvSpPr txBox="1"/>
          <p:nvPr/>
        </p:nvSpPr>
        <p:spPr>
          <a:xfrm>
            <a:off x="2661666" y="1267534"/>
            <a:ext cx="4792980" cy="4071627"/>
          </a:xfrm>
          <a:prstGeom prst="rect">
            <a:avLst/>
          </a:prstGeom>
        </p:spPr>
        <p:txBody>
          <a:bodyPr vert="horz" wrap="square" lIns="0" tIns="191770" rIns="0" bIns="0" rtlCol="0">
            <a:spAutoFit/>
          </a:bodyPr>
          <a:lstStyle/>
          <a:p>
            <a:pPr marL="355600" indent="-342900">
              <a:lnSpc>
                <a:spcPct val="100000"/>
              </a:lnSpc>
              <a:spcBef>
                <a:spcPts val="1510"/>
              </a:spcBef>
              <a:buFont typeface="Arial MT"/>
              <a:buChar char="•"/>
              <a:tabLst>
                <a:tab pos="354965" algn="l"/>
                <a:tab pos="355600" algn="l"/>
              </a:tabLst>
            </a:pPr>
            <a:r>
              <a:rPr sz="2600" dirty="0">
                <a:solidFill>
                  <a:srgbClr val="FFFFFF"/>
                </a:solidFill>
                <a:latin typeface="Times New Roman"/>
                <a:cs typeface="Times New Roman"/>
              </a:rPr>
              <a:t>Introduction</a:t>
            </a:r>
            <a:endParaRPr sz="2600" dirty="0">
              <a:latin typeface="Times New Roman"/>
              <a:cs typeface="Times New Roman"/>
            </a:endParaRPr>
          </a:p>
          <a:p>
            <a:pPr marL="355600" indent="-342900">
              <a:lnSpc>
                <a:spcPct val="100000"/>
              </a:lnSpc>
              <a:spcBef>
                <a:spcPts val="1405"/>
              </a:spcBef>
              <a:buFont typeface="Arial MT"/>
              <a:buChar char="•"/>
              <a:tabLst>
                <a:tab pos="354965" algn="l"/>
                <a:tab pos="355600" algn="l"/>
              </a:tabLst>
            </a:pPr>
            <a:r>
              <a:rPr sz="2600" dirty="0">
                <a:solidFill>
                  <a:srgbClr val="FFFFFF"/>
                </a:solidFill>
                <a:latin typeface="Times New Roman"/>
                <a:cs typeface="Times New Roman"/>
              </a:rPr>
              <a:t>Objectives</a:t>
            </a:r>
            <a:endParaRPr sz="2600" dirty="0">
              <a:latin typeface="Times New Roman"/>
              <a:cs typeface="Times New Roman"/>
            </a:endParaRPr>
          </a:p>
          <a:p>
            <a:pPr marL="355600" indent="-342900">
              <a:lnSpc>
                <a:spcPct val="100000"/>
              </a:lnSpc>
              <a:spcBef>
                <a:spcPts val="1390"/>
              </a:spcBef>
              <a:buFont typeface="Arial MT"/>
              <a:buChar char="•"/>
              <a:tabLst>
                <a:tab pos="354965" algn="l"/>
                <a:tab pos="355600" algn="l"/>
              </a:tabLst>
            </a:pPr>
            <a:r>
              <a:rPr sz="2600" spc="-5" dirty="0">
                <a:solidFill>
                  <a:srgbClr val="FFFFFF"/>
                </a:solidFill>
                <a:latin typeface="Times New Roman"/>
                <a:cs typeface="Times New Roman"/>
              </a:rPr>
              <a:t>Literature</a:t>
            </a:r>
            <a:r>
              <a:rPr sz="2600" spc="-40" dirty="0">
                <a:solidFill>
                  <a:srgbClr val="FFFFFF"/>
                </a:solidFill>
                <a:latin typeface="Times New Roman"/>
                <a:cs typeface="Times New Roman"/>
              </a:rPr>
              <a:t> </a:t>
            </a:r>
            <a:r>
              <a:rPr sz="2600" dirty="0">
                <a:solidFill>
                  <a:srgbClr val="FFFFFF"/>
                </a:solidFill>
                <a:latin typeface="Times New Roman"/>
                <a:cs typeface="Times New Roman"/>
              </a:rPr>
              <a:t>survey</a:t>
            </a:r>
            <a:endParaRPr sz="2600" dirty="0">
              <a:latin typeface="Times New Roman"/>
              <a:cs typeface="Times New Roman"/>
            </a:endParaRPr>
          </a:p>
          <a:p>
            <a:pPr marL="355600" indent="-342900">
              <a:lnSpc>
                <a:spcPct val="100000"/>
              </a:lnSpc>
              <a:spcBef>
                <a:spcPts val="1395"/>
              </a:spcBef>
              <a:buFont typeface="Arial MT"/>
              <a:buChar char="•"/>
              <a:tabLst>
                <a:tab pos="354965" algn="l"/>
                <a:tab pos="355600" algn="l"/>
              </a:tabLst>
            </a:pPr>
            <a:r>
              <a:rPr sz="2600" dirty="0">
                <a:solidFill>
                  <a:srgbClr val="FFFFFF"/>
                </a:solidFill>
                <a:latin typeface="Times New Roman"/>
                <a:cs typeface="Times New Roman"/>
              </a:rPr>
              <a:t>Block</a:t>
            </a:r>
            <a:r>
              <a:rPr sz="2600" spc="-45" dirty="0">
                <a:solidFill>
                  <a:srgbClr val="FFFFFF"/>
                </a:solidFill>
                <a:latin typeface="Times New Roman"/>
                <a:cs typeface="Times New Roman"/>
              </a:rPr>
              <a:t> </a:t>
            </a:r>
            <a:r>
              <a:rPr sz="2600" dirty="0">
                <a:solidFill>
                  <a:srgbClr val="FFFFFF"/>
                </a:solidFill>
                <a:latin typeface="Times New Roman"/>
                <a:cs typeface="Times New Roman"/>
              </a:rPr>
              <a:t>Diagram</a:t>
            </a:r>
            <a:endParaRPr sz="2600" dirty="0">
              <a:latin typeface="Times New Roman"/>
              <a:cs typeface="Times New Roman"/>
            </a:endParaRPr>
          </a:p>
          <a:p>
            <a:pPr marL="355600" indent="-342900">
              <a:lnSpc>
                <a:spcPct val="100000"/>
              </a:lnSpc>
              <a:spcBef>
                <a:spcPts val="1395"/>
              </a:spcBef>
              <a:buFont typeface="Arial MT"/>
              <a:buChar char="•"/>
              <a:tabLst>
                <a:tab pos="354965" algn="l"/>
                <a:tab pos="355600" algn="l"/>
              </a:tabLst>
            </a:pPr>
            <a:r>
              <a:rPr sz="2600" spc="-15" dirty="0">
                <a:solidFill>
                  <a:srgbClr val="FFFFFF"/>
                </a:solidFill>
                <a:latin typeface="Times New Roman"/>
                <a:cs typeface="Times New Roman"/>
              </a:rPr>
              <a:t>Tools/Softwares,</a:t>
            </a:r>
            <a:r>
              <a:rPr sz="2600" spc="-35" dirty="0">
                <a:solidFill>
                  <a:srgbClr val="FFFFFF"/>
                </a:solidFill>
                <a:latin typeface="Times New Roman"/>
                <a:cs typeface="Times New Roman"/>
              </a:rPr>
              <a:t> </a:t>
            </a:r>
            <a:r>
              <a:rPr sz="2600" dirty="0">
                <a:solidFill>
                  <a:srgbClr val="FFFFFF"/>
                </a:solidFill>
                <a:latin typeface="Times New Roman"/>
                <a:cs typeface="Times New Roman"/>
              </a:rPr>
              <a:t>Languages</a:t>
            </a:r>
            <a:r>
              <a:rPr sz="2600" spc="-35" dirty="0">
                <a:solidFill>
                  <a:srgbClr val="FFFFFF"/>
                </a:solidFill>
                <a:latin typeface="Times New Roman"/>
                <a:cs typeface="Times New Roman"/>
              </a:rPr>
              <a:t> </a:t>
            </a:r>
            <a:r>
              <a:rPr sz="2600" dirty="0">
                <a:solidFill>
                  <a:srgbClr val="FFFFFF"/>
                </a:solidFill>
                <a:latin typeface="Times New Roman"/>
                <a:cs typeface="Times New Roman"/>
              </a:rPr>
              <a:t>used</a:t>
            </a:r>
            <a:endParaRPr sz="2600" dirty="0">
              <a:latin typeface="Times New Roman"/>
              <a:cs typeface="Times New Roman"/>
            </a:endParaRPr>
          </a:p>
          <a:p>
            <a:pPr marL="355600" indent="-342900">
              <a:lnSpc>
                <a:spcPct val="100000"/>
              </a:lnSpc>
              <a:spcBef>
                <a:spcPts val="1405"/>
              </a:spcBef>
              <a:buFont typeface="Arial MT"/>
              <a:buChar char="•"/>
              <a:tabLst>
                <a:tab pos="354965" algn="l"/>
                <a:tab pos="355600" algn="l"/>
              </a:tabLst>
            </a:pPr>
            <a:r>
              <a:rPr sz="2600" dirty="0" smtClean="0">
                <a:solidFill>
                  <a:srgbClr val="FFFFFF"/>
                </a:solidFill>
                <a:latin typeface="Times New Roman"/>
                <a:cs typeface="Times New Roman"/>
              </a:rPr>
              <a:t>Conclusion</a:t>
            </a:r>
            <a:endParaRPr sz="2600" dirty="0">
              <a:latin typeface="Times New Roman"/>
              <a:cs typeface="Times New Roman"/>
            </a:endParaRPr>
          </a:p>
          <a:p>
            <a:pPr marL="355600" indent="-342900">
              <a:lnSpc>
                <a:spcPct val="100000"/>
              </a:lnSpc>
              <a:spcBef>
                <a:spcPts val="1395"/>
              </a:spcBef>
              <a:buFont typeface="Arial MT"/>
              <a:buChar char="•"/>
              <a:tabLst>
                <a:tab pos="354965" algn="l"/>
                <a:tab pos="355600" algn="l"/>
              </a:tabLst>
            </a:pPr>
            <a:r>
              <a:rPr sz="2600" spc="-5" dirty="0">
                <a:solidFill>
                  <a:srgbClr val="FFFFFF"/>
                </a:solidFill>
                <a:latin typeface="Times New Roman"/>
                <a:cs typeface="Times New Roman"/>
              </a:rPr>
              <a:t>References</a:t>
            </a:r>
            <a:endParaRPr sz="2600" dirty="0">
              <a:latin typeface="Times New Roman"/>
              <a:cs typeface="Times New Roman"/>
            </a:endParaRPr>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79164" y="594359"/>
            <a:ext cx="4276344" cy="1027176"/>
          </a:xfrm>
          <a:prstGeom prst="rect">
            <a:avLst/>
          </a:prstGeom>
        </p:spPr>
      </p:pic>
      <p:sp>
        <p:nvSpPr>
          <p:cNvPr id="3" name="object 3"/>
          <p:cNvSpPr txBox="1">
            <a:spLocks noGrp="1"/>
          </p:cNvSpPr>
          <p:nvPr>
            <p:ph type="title"/>
          </p:nvPr>
        </p:nvSpPr>
        <p:spPr>
          <a:xfrm>
            <a:off x="4247515" y="710310"/>
            <a:ext cx="3685540" cy="574040"/>
          </a:xfrm>
          <a:prstGeom prst="rect">
            <a:avLst/>
          </a:prstGeom>
        </p:spPr>
        <p:txBody>
          <a:bodyPr vert="horz" wrap="square" lIns="0" tIns="12700" rIns="0" bIns="0" rtlCol="0">
            <a:spAutoFit/>
          </a:bodyPr>
          <a:lstStyle/>
          <a:p>
            <a:pPr marL="12700">
              <a:lnSpc>
                <a:spcPct val="100000"/>
              </a:lnSpc>
              <a:spcBef>
                <a:spcPts val="100"/>
              </a:spcBef>
            </a:pPr>
            <a:r>
              <a:rPr sz="3600" spc="-5" dirty="0" smtClean="0">
                <a:solidFill>
                  <a:srgbClr val="FFFF00"/>
                </a:solidFill>
              </a:rPr>
              <a:t>INT</a:t>
            </a:r>
            <a:r>
              <a:rPr sz="3600" dirty="0" smtClean="0">
                <a:solidFill>
                  <a:srgbClr val="FFFF00"/>
                </a:solidFill>
              </a:rPr>
              <a:t>R</a:t>
            </a:r>
            <a:r>
              <a:rPr sz="3600" spc="-5" dirty="0" smtClean="0">
                <a:solidFill>
                  <a:srgbClr val="FFFF00"/>
                </a:solidFill>
              </a:rPr>
              <a:t>ODUCT</a:t>
            </a:r>
            <a:r>
              <a:rPr sz="3600" dirty="0" smtClean="0">
                <a:solidFill>
                  <a:srgbClr val="FFFF00"/>
                </a:solidFill>
              </a:rPr>
              <a:t>I</a:t>
            </a:r>
            <a:r>
              <a:rPr sz="3600" spc="-5" dirty="0" smtClean="0">
                <a:solidFill>
                  <a:srgbClr val="FFFF00"/>
                </a:solidFill>
              </a:rPr>
              <a:t>ON</a:t>
            </a:r>
            <a:endParaRPr sz="3600" dirty="0"/>
          </a:p>
        </p:txBody>
      </p:sp>
      <p:sp>
        <p:nvSpPr>
          <p:cNvPr id="16" name="TextBox 15"/>
          <p:cNvSpPr txBox="1"/>
          <p:nvPr/>
        </p:nvSpPr>
        <p:spPr>
          <a:xfrm>
            <a:off x="300878" y="1737486"/>
            <a:ext cx="10976722" cy="830997"/>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A price predictor is a valuable tool used for forecasting and estimating the value of a specific item or asset, particularly in the context of real estate.</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381000" y="2819400"/>
            <a:ext cx="10439400" cy="830997"/>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T</a:t>
            </a:r>
            <a:r>
              <a:rPr lang="en-US" sz="2400" dirty="0" smtClean="0">
                <a:solidFill>
                  <a:schemeClr val="bg1"/>
                </a:solidFill>
                <a:latin typeface="Times New Roman" panose="02020603050405020304" pitchFamily="18" charset="0"/>
                <a:cs typeface="Times New Roman" panose="02020603050405020304" pitchFamily="18" charset="0"/>
              </a:rPr>
              <a:t>hese </a:t>
            </a:r>
            <a:r>
              <a:rPr lang="en-US" sz="2400" dirty="0">
                <a:solidFill>
                  <a:schemeClr val="bg1"/>
                </a:solidFill>
                <a:latin typeface="Times New Roman" panose="02020603050405020304" pitchFamily="18" charset="0"/>
                <a:cs typeface="Times New Roman" panose="02020603050405020304" pitchFamily="18" charset="0"/>
              </a:rPr>
              <a:t>tools leverage machine learning algorithms to analyze various property features, including location, size, amenities, and historical pricing trends.</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49" name="TextBox 48"/>
          <p:cNvSpPr txBox="1"/>
          <p:nvPr/>
        </p:nvSpPr>
        <p:spPr>
          <a:xfrm>
            <a:off x="381000" y="4114800"/>
            <a:ext cx="10439400" cy="1200329"/>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Machine learning models used in price prediction aim to capture the complex relationships between input features and the target variable (house price) to generate reliable </a:t>
            </a:r>
            <a:r>
              <a:rPr lang="en-US" sz="2400" dirty="0" smtClean="0">
                <a:solidFill>
                  <a:schemeClr val="bg1"/>
                </a:solidFill>
                <a:latin typeface="Times New Roman" panose="02020603050405020304" pitchFamily="18" charset="0"/>
                <a:cs typeface="Times New Roman" panose="02020603050405020304" pitchFamily="18" charset="0"/>
              </a:rPr>
              <a:t>estimates</a:t>
            </a:r>
            <a:endParaRPr lang="en-IN" sz="2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1724660"/>
            <a:ext cx="10474883" cy="3284489"/>
          </a:xfrm>
          <a:prstGeom prst="rect">
            <a:avLst/>
          </a:prstGeom>
        </p:spPr>
        <p:txBody>
          <a:bodyPr vert="horz" wrap="square" lIns="0" tIns="12700" rIns="0" bIns="0" rtlCol="0">
            <a:spAutoFit/>
          </a:bodyPr>
          <a:lstStyle/>
          <a:p>
            <a:pPr marL="469265" marR="6350" indent="-457200">
              <a:lnSpc>
                <a:spcPct val="120000"/>
              </a:lnSpc>
              <a:spcBef>
                <a:spcPts val="600"/>
              </a:spcBef>
              <a:buFont typeface="Wingdings" panose="05000000000000000000" pitchFamily="2" charset="2"/>
              <a:buChar char="Ø"/>
              <a:tabLst>
                <a:tab pos="469265" algn="l"/>
                <a:tab pos="469900" algn="l"/>
                <a:tab pos="1130935" algn="l"/>
                <a:tab pos="1772285" algn="l"/>
                <a:tab pos="2901950" algn="l"/>
                <a:tab pos="3204210" algn="l"/>
                <a:tab pos="3877310" algn="l"/>
                <a:tab pos="5394325" algn="l"/>
                <a:tab pos="6017260" algn="l"/>
                <a:tab pos="6657975" algn="l"/>
                <a:tab pos="7348220" algn="l"/>
                <a:tab pos="8546465" algn="l"/>
                <a:tab pos="8848090" algn="l"/>
                <a:tab pos="9520555" algn="l"/>
              </a:tabLst>
            </a:pPr>
            <a:r>
              <a:rPr lang="en-US" sz="2400" dirty="0">
                <a:solidFill>
                  <a:schemeClr val="bg1"/>
                </a:solidFill>
                <a:latin typeface="Times New Roman" panose="02020603050405020304" pitchFamily="18" charset="0"/>
                <a:cs typeface="Times New Roman" panose="02020603050405020304" pitchFamily="18" charset="0"/>
              </a:rPr>
              <a:t>Develop a model that gives reliable estimates of house prices</a:t>
            </a:r>
            <a:r>
              <a:rPr lang="en-US" sz="2400" dirty="0" smtClean="0">
                <a:solidFill>
                  <a:schemeClr val="bg1"/>
                </a:solidFill>
                <a:latin typeface="Times New Roman" panose="02020603050405020304" pitchFamily="18" charset="0"/>
                <a:cs typeface="Times New Roman" panose="02020603050405020304" pitchFamily="18" charset="0"/>
              </a:rPr>
              <a:t>.</a:t>
            </a:r>
          </a:p>
          <a:p>
            <a:pPr marL="469265" marR="5080" indent="-457200">
              <a:lnSpc>
                <a:spcPct val="120000"/>
              </a:lnSpc>
              <a:spcBef>
                <a:spcPts val="600"/>
              </a:spcBef>
              <a:buClr>
                <a:srgbClr val="FFFFFF"/>
              </a:buClr>
              <a:buFont typeface="Wingdings" panose="05000000000000000000" pitchFamily="2" charset="2"/>
              <a:buChar char="Ø"/>
              <a:tabLst>
                <a:tab pos="539750" algn="l"/>
                <a:tab pos="540385" algn="l"/>
                <a:tab pos="1146175" algn="l"/>
                <a:tab pos="2124710" algn="l"/>
                <a:tab pos="2461895" algn="l"/>
                <a:tab pos="3521075" algn="l"/>
                <a:tab pos="3891279" algn="l"/>
                <a:tab pos="4310380" algn="l"/>
                <a:tab pos="4999355" algn="l"/>
                <a:tab pos="5572760" algn="l"/>
                <a:tab pos="6514465" algn="l"/>
                <a:tab pos="7019290" algn="l"/>
                <a:tab pos="7726045" algn="l"/>
                <a:tab pos="8112125" algn="l"/>
                <a:tab pos="9521825" algn="l"/>
              </a:tabLst>
            </a:pPr>
            <a:r>
              <a:rPr lang="en-US" sz="2400" dirty="0">
                <a:solidFill>
                  <a:schemeClr val="bg1"/>
                </a:solidFill>
                <a:latin typeface="Times New Roman" panose="02020603050405020304" pitchFamily="18" charset="0"/>
                <a:cs typeface="Times New Roman" panose="02020603050405020304" pitchFamily="18" charset="0"/>
              </a:rPr>
              <a:t>Help buyers and sellers make informed decisions about property values</a:t>
            </a:r>
            <a:r>
              <a:rPr lang="en-US" sz="2400" dirty="0" smtClean="0">
                <a:solidFill>
                  <a:schemeClr val="bg1"/>
                </a:solidFill>
                <a:latin typeface="Times New Roman" panose="02020603050405020304" pitchFamily="18" charset="0"/>
                <a:cs typeface="Times New Roman" panose="02020603050405020304" pitchFamily="18" charset="0"/>
              </a:rPr>
              <a:t>.</a:t>
            </a:r>
          </a:p>
          <a:p>
            <a:pPr marL="469265" indent="-457200">
              <a:lnSpc>
                <a:spcPct val="100000"/>
              </a:lnSpc>
              <a:spcBef>
                <a:spcPts val="1180"/>
              </a:spcBef>
              <a:buFont typeface="Wingdings" panose="05000000000000000000" pitchFamily="2" charset="2"/>
              <a:buChar char="Ø"/>
              <a:tabLst>
                <a:tab pos="469265" algn="l"/>
                <a:tab pos="469900" algn="l"/>
              </a:tabLst>
            </a:pPr>
            <a:r>
              <a:rPr lang="en-US" sz="2400" dirty="0">
                <a:solidFill>
                  <a:schemeClr val="bg1"/>
                </a:solidFill>
                <a:latin typeface="Times New Roman" panose="02020603050405020304" pitchFamily="18" charset="0"/>
                <a:cs typeface="Times New Roman" panose="02020603050405020304" pitchFamily="18" charset="0"/>
              </a:rPr>
              <a:t>Assist lenders in evaluating the risk associated with providing loans for houses</a:t>
            </a:r>
            <a:r>
              <a:rPr lang="en-US" sz="2400" dirty="0" smtClean="0"/>
              <a:t>.</a:t>
            </a:r>
          </a:p>
          <a:p>
            <a:pPr marL="469265" indent="-457200">
              <a:lnSpc>
                <a:spcPct val="100000"/>
              </a:lnSpc>
              <a:spcBef>
                <a:spcPts val="1180"/>
              </a:spcBef>
              <a:buFont typeface="Wingdings" panose="05000000000000000000" pitchFamily="2" charset="2"/>
              <a:buChar char="Ø"/>
              <a:tabLst>
                <a:tab pos="469265" algn="l"/>
                <a:tab pos="469900" algn="l"/>
              </a:tabLst>
            </a:pPr>
            <a:r>
              <a:rPr lang="en-US" sz="2400" dirty="0">
                <a:solidFill>
                  <a:schemeClr val="bg1"/>
                </a:solidFill>
                <a:latin typeface="Times New Roman" panose="02020603050405020304" pitchFamily="18" charset="0"/>
                <a:cs typeface="Times New Roman" panose="02020603050405020304" pitchFamily="18" charset="0"/>
              </a:rPr>
              <a:t>Contribute to understanding trends and patterns in property values for market </a:t>
            </a:r>
            <a:r>
              <a:rPr lang="en-US" sz="2400" dirty="0" smtClean="0">
                <a:solidFill>
                  <a:schemeClr val="bg1"/>
                </a:solidFill>
                <a:latin typeface="Times New Roman" panose="02020603050405020304" pitchFamily="18" charset="0"/>
                <a:cs typeface="Times New Roman" panose="02020603050405020304" pitchFamily="18" charset="0"/>
              </a:rPr>
              <a:t>analysis</a:t>
            </a:r>
          </a:p>
          <a:p>
            <a:pPr marL="469265" indent="-457200">
              <a:lnSpc>
                <a:spcPct val="100000"/>
              </a:lnSpc>
              <a:spcBef>
                <a:spcPts val="1180"/>
              </a:spcBef>
              <a:buFont typeface="Wingdings" panose="05000000000000000000" pitchFamily="2" charset="2"/>
              <a:buChar char="Ø"/>
              <a:tabLst>
                <a:tab pos="469265" algn="l"/>
                <a:tab pos="469900" algn="l"/>
              </a:tabLst>
            </a:pPr>
            <a:r>
              <a:rPr lang="en-US" sz="2400" dirty="0">
                <a:solidFill>
                  <a:schemeClr val="bg1"/>
                </a:solidFill>
                <a:latin typeface="Times New Roman" panose="02020603050405020304" pitchFamily="18" charset="0"/>
                <a:cs typeface="Times New Roman" panose="02020603050405020304" pitchFamily="18" charset="0"/>
              </a:rPr>
              <a:t>Create easy-to-use tools for users to input property details and get instant price estimates.</a:t>
            </a:r>
            <a:endParaRPr lang="en-US" sz="2400" dirty="0" smtClean="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4673346" y="457022"/>
            <a:ext cx="2845435" cy="848994"/>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FFFF00"/>
                </a:solidFill>
              </a:rPr>
              <a:t>Objective</a:t>
            </a:r>
            <a:endParaRPr sz="5400"/>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300751583"/>
              </p:ext>
            </p:extLst>
          </p:nvPr>
        </p:nvGraphicFramePr>
        <p:xfrm>
          <a:off x="455206" y="1355089"/>
          <a:ext cx="11269980" cy="5848985"/>
        </p:xfrm>
        <a:graphic>
          <a:graphicData uri="http://schemas.openxmlformats.org/drawingml/2006/table">
            <a:tbl>
              <a:tblPr firstRow="1" bandRow="1">
                <a:tableStyleId>{2D5ABB26-0587-4C30-8999-92F81FD0307C}</a:tableStyleId>
              </a:tblPr>
              <a:tblGrid>
                <a:gridCol w="844550"/>
                <a:gridCol w="2434044"/>
                <a:gridCol w="1619796"/>
                <a:gridCol w="6371590"/>
              </a:tblGrid>
              <a:tr h="365760">
                <a:tc>
                  <a:txBody>
                    <a:bodyPr/>
                    <a:lstStyle/>
                    <a:p>
                      <a:pPr algn="ctr">
                        <a:lnSpc>
                          <a:spcPct val="100000"/>
                        </a:lnSpc>
                        <a:spcBef>
                          <a:spcPts val="300"/>
                        </a:spcBef>
                      </a:pPr>
                      <a:r>
                        <a:rPr sz="1800" b="1" spc="-60" dirty="0">
                          <a:solidFill>
                            <a:srgbClr val="FFFFFF"/>
                          </a:solidFill>
                          <a:latin typeface="Times New Roman"/>
                          <a:cs typeface="Times New Roman"/>
                        </a:rPr>
                        <a:t>Sr.</a:t>
                      </a:r>
                      <a:r>
                        <a:rPr sz="1800" b="1" spc="-40" dirty="0">
                          <a:solidFill>
                            <a:srgbClr val="FFFFFF"/>
                          </a:solidFill>
                          <a:latin typeface="Times New Roman"/>
                          <a:cs typeface="Times New Roman"/>
                        </a:rPr>
                        <a:t> </a:t>
                      </a:r>
                      <a:r>
                        <a:rPr sz="1800" b="1" spc="-5" dirty="0">
                          <a:solidFill>
                            <a:srgbClr val="FFFFFF"/>
                          </a:solidFill>
                          <a:latin typeface="Times New Roman"/>
                          <a:cs typeface="Times New Roman"/>
                        </a:rPr>
                        <a:t>No</a:t>
                      </a:r>
                      <a:endParaRPr sz="1800" dirty="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c>
                  <a:txBody>
                    <a:bodyPr/>
                    <a:lstStyle/>
                    <a:p>
                      <a:pPr algn="ctr">
                        <a:lnSpc>
                          <a:spcPct val="100000"/>
                        </a:lnSpc>
                        <a:spcBef>
                          <a:spcPts val="300"/>
                        </a:spcBef>
                      </a:pPr>
                      <a:r>
                        <a:rPr sz="1800" b="1" spc="-10" dirty="0">
                          <a:solidFill>
                            <a:srgbClr val="FFFFFF"/>
                          </a:solidFill>
                          <a:latin typeface="Times New Roman"/>
                          <a:cs typeface="Times New Roman"/>
                        </a:rPr>
                        <a:t>Title</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c>
                  <a:txBody>
                    <a:bodyPr/>
                    <a:lstStyle/>
                    <a:p>
                      <a:pPr marL="411480">
                        <a:lnSpc>
                          <a:spcPct val="100000"/>
                        </a:lnSpc>
                        <a:spcBef>
                          <a:spcPts val="300"/>
                        </a:spcBef>
                      </a:pPr>
                      <a:r>
                        <a:rPr sz="1800" b="1" spc="-5" dirty="0">
                          <a:solidFill>
                            <a:srgbClr val="FFFFFF"/>
                          </a:solidFill>
                          <a:latin typeface="Times New Roman"/>
                          <a:cs typeface="Times New Roman"/>
                        </a:rPr>
                        <a:t>Author</a:t>
                      </a:r>
                      <a:r>
                        <a:rPr sz="1800" b="1" spc="-65" dirty="0">
                          <a:solidFill>
                            <a:srgbClr val="FFFFFF"/>
                          </a:solidFill>
                          <a:latin typeface="Times New Roman"/>
                          <a:cs typeface="Times New Roman"/>
                        </a:rPr>
                        <a:t> </a:t>
                      </a:r>
                      <a:r>
                        <a:rPr sz="1800" b="1" spc="-5" dirty="0">
                          <a:solidFill>
                            <a:srgbClr val="FFFFFF"/>
                          </a:solidFill>
                          <a:latin typeface="Times New Roman"/>
                          <a:cs typeface="Times New Roman"/>
                        </a:rPr>
                        <a:t>Name</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c>
                  <a:txBody>
                    <a:bodyPr/>
                    <a:lstStyle/>
                    <a:p>
                      <a:pPr marL="635" algn="ctr">
                        <a:lnSpc>
                          <a:spcPct val="100000"/>
                        </a:lnSpc>
                        <a:spcBef>
                          <a:spcPts val="300"/>
                        </a:spcBef>
                      </a:pPr>
                      <a:r>
                        <a:rPr sz="1800" b="1" dirty="0">
                          <a:solidFill>
                            <a:srgbClr val="FFFFFF"/>
                          </a:solidFill>
                          <a:latin typeface="Times New Roman"/>
                          <a:cs typeface="Times New Roman"/>
                        </a:rPr>
                        <a:t>Description</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r>
              <a:tr h="2560320">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30"/>
                        </a:spcBef>
                      </a:pPr>
                      <a:endParaRPr sz="1750">
                        <a:latin typeface="Times New Roman"/>
                        <a:cs typeface="Times New Roman"/>
                      </a:endParaRPr>
                    </a:p>
                    <a:p>
                      <a:pPr algn="ctr">
                        <a:lnSpc>
                          <a:spcPct val="100000"/>
                        </a:lnSpc>
                        <a:spcBef>
                          <a:spcPts val="5"/>
                        </a:spcBef>
                      </a:pPr>
                      <a:r>
                        <a:rPr sz="1800" dirty="0">
                          <a:latin typeface="Times New Roman"/>
                          <a:cs typeface="Times New Roman"/>
                        </a:rPr>
                        <a:t>1.</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c>
                  <a:txBody>
                    <a:bodyPr/>
                    <a:lstStyle/>
                    <a:p>
                      <a:pPr marL="0" marR="0" lvl="0" indent="0" algn="ctr" defTabSz="914400" eaLnBrk="1" fontAlgn="auto" latinLnBrk="0" hangingPunct="1">
                        <a:lnSpc>
                          <a:spcPct val="100000"/>
                        </a:lnSpc>
                        <a:spcBef>
                          <a:spcPts val="280"/>
                        </a:spcBef>
                        <a:spcAft>
                          <a:spcPts val="0"/>
                        </a:spcAft>
                        <a:buClrTx/>
                        <a:buSzTx/>
                        <a:buFontTx/>
                        <a:buNone/>
                        <a:tabLst/>
                        <a:defRPr/>
                      </a:pPr>
                      <a:r>
                        <a:rPr lang="en-US" dirty="0" smtClean="0"/>
                        <a:t>House Price Prediction Using Machine Learning</a:t>
                      </a:r>
                      <a:endParaRPr sz="1800" b="0" dirty="0">
                        <a:latin typeface="Times New Roman"/>
                        <a:cs typeface="Times New Roman"/>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c>
                  <a:txBody>
                    <a:bodyPr/>
                    <a:lstStyle/>
                    <a:p>
                      <a:pPr fontAlgn="base"/>
                      <a:r>
                        <a:rPr lang="en-IN" sz="1800" dirty="0" smtClean="0"/>
                        <a:t>G. Naga Satish, Ch. V. Raghavendran, M.D.Sugnana Rao, Ch.Srinivasulu</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c>
                  <a:txBody>
                    <a:bodyPr/>
                    <a:lstStyle/>
                    <a:p>
                      <a:pPr>
                        <a:lnSpc>
                          <a:spcPct val="100000"/>
                        </a:lnSpc>
                        <a:spcBef>
                          <a:spcPts val="35"/>
                        </a:spcBef>
                      </a:pPr>
                      <a:endParaRPr sz="1700" dirty="0">
                        <a:latin typeface="Times New Roman"/>
                        <a:cs typeface="Times New Roman"/>
                      </a:endParaRPr>
                    </a:p>
                    <a:p>
                      <a:pPr marL="92075" marR="81280" algn="just">
                        <a:lnSpc>
                          <a:spcPct val="100000"/>
                        </a:lnSpc>
                      </a:pPr>
                      <a:r>
                        <a:rPr lang="en-US" b="0" i="0" dirty="0" smtClean="0">
                          <a:solidFill>
                            <a:schemeClr val="tx1"/>
                          </a:solidFill>
                          <a:effectLst/>
                          <a:latin typeface="+mn-lt"/>
                          <a:ea typeface="+mn-ea"/>
                          <a:cs typeface="+mn-cs"/>
                        </a:rPr>
                        <a:t>A model has been developed to provide users with a new approach to future lodging value predictions. The model uses relapse strategies and gradient boosting to ensure more sensible predictions. However, there are potential upgrades due to time constraints and the stacking period. Using multiple processors and parallel computations could potentially decrease preparation time and prediction period. The model also offers options for clients to select a district for high temperature maps instead of entering the list.</a:t>
                      </a:r>
                      <a:endParaRPr sz="1800" dirty="0">
                        <a:latin typeface="Cambria"/>
                        <a:cs typeface="Cambria"/>
                      </a:endParaRPr>
                    </a:p>
                  </a:txBody>
                  <a:tcPr marL="0" marR="0" marT="44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r>
              <a:tr h="2529840">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30"/>
                        </a:spcBef>
                      </a:pPr>
                      <a:endParaRPr sz="1650">
                        <a:latin typeface="Times New Roman"/>
                        <a:cs typeface="Times New Roman"/>
                      </a:endParaRPr>
                    </a:p>
                    <a:p>
                      <a:pPr algn="ctr">
                        <a:lnSpc>
                          <a:spcPct val="100000"/>
                        </a:lnSpc>
                      </a:pPr>
                      <a:r>
                        <a:rPr sz="1800" dirty="0">
                          <a:latin typeface="Times New Roman"/>
                          <a:cs typeface="Times New Roman"/>
                        </a:rPr>
                        <a:t>2.</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c>
                  <a:txBody>
                    <a:bodyPr/>
                    <a:lstStyle/>
                    <a:p>
                      <a:pPr marL="130175" marR="121920" algn="ctr">
                        <a:lnSpc>
                          <a:spcPct val="100200"/>
                        </a:lnSpc>
                        <a:spcBef>
                          <a:spcPts val="280"/>
                        </a:spcBef>
                      </a:pPr>
                      <a:r>
                        <a:rPr lang="en-US" sz="1600" b="0" i="0" dirty="0" smtClean="0">
                          <a:solidFill>
                            <a:schemeClr val="tx1"/>
                          </a:solidFill>
                          <a:effectLst/>
                          <a:latin typeface="+mn-lt"/>
                          <a:ea typeface="+mn-ea"/>
                          <a:cs typeface="+mn-cs"/>
                        </a:rPr>
                        <a:t> </a:t>
                      </a:r>
                      <a:r>
                        <a:rPr lang="en-US" sz="1800" dirty="0" smtClean="0"/>
                        <a:t>House Price Prediction Using Machine Learning </a:t>
                      </a:r>
                      <a:endParaRPr sz="1800" dirty="0">
                        <a:latin typeface="Times New Roman"/>
                        <a:cs typeface="Times New Roma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c>
                  <a:txBody>
                    <a:bodyPr/>
                    <a:lstStyle/>
                    <a:p>
                      <a:pPr>
                        <a:lnSpc>
                          <a:spcPct val="100000"/>
                        </a:lnSpc>
                        <a:spcBef>
                          <a:spcPts val="10"/>
                        </a:spcBef>
                      </a:pPr>
                      <a:r>
                        <a:rPr lang="en-IN" sz="1600" dirty="0" smtClean="0"/>
                        <a:t>ANAND G. RAWOOL1 , DATTATRAY V. ROGYE2 , SAINATH G. RANE3 , DR. VINAYK A. BHARADI4 </a:t>
                      </a:r>
                      <a:endParaRPr sz="1600" dirty="0">
                        <a:latin typeface="Times New Roman"/>
                        <a:cs typeface="Times New Roman"/>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c>
                  <a:txBody>
                    <a:bodyPr/>
                    <a:lstStyle/>
                    <a:p>
                      <a:pPr marL="92075" marR="83185" algn="just">
                        <a:lnSpc>
                          <a:spcPct val="100000"/>
                        </a:lnSpc>
                        <a:spcBef>
                          <a:spcPts val="1815"/>
                        </a:spcBef>
                      </a:pPr>
                      <a:r>
                        <a:rPr lang="en-US" dirty="0" smtClean="0"/>
                        <a:t>The paper entitled “House Price Prediction Using Machine Learning” has presented to predict house price based on various features on given data. From our analysis we set value of RMSE as 2.9131889. In this model we have to add additional features like tax, air quality so it become different from other prediction system. It helps people to buy house in budget and reduce loss of money. </a:t>
                      </a:r>
                      <a:endParaRPr sz="1800" dirty="0">
                        <a:latin typeface="Cambria"/>
                        <a:cs typeface="Cambri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r>
            </a:tbl>
          </a:graphicData>
        </a:graphic>
      </p:graphicFrame>
      <p:sp>
        <p:nvSpPr>
          <p:cNvPr id="3" name="object 3"/>
          <p:cNvSpPr txBox="1">
            <a:spLocks noGrp="1"/>
          </p:cNvSpPr>
          <p:nvPr>
            <p:ph type="title"/>
          </p:nvPr>
        </p:nvSpPr>
        <p:spPr>
          <a:xfrm>
            <a:off x="3451097" y="112014"/>
            <a:ext cx="5289550" cy="848360"/>
          </a:xfrm>
          <a:prstGeom prst="rect">
            <a:avLst/>
          </a:prstGeom>
        </p:spPr>
        <p:txBody>
          <a:bodyPr vert="horz" wrap="square" lIns="0" tIns="12700" rIns="0" bIns="0" rtlCol="0">
            <a:spAutoFit/>
          </a:bodyPr>
          <a:lstStyle/>
          <a:p>
            <a:pPr marL="12700">
              <a:lnSpc>
                <a:spcPct val="100000"/>
              </a:lnSpc>
              <a:spcBef>
                <a:spcPts val="100"/>
              </a:spcBef>
            </a:pPr>
            <a:r>
              <a:rPr sz="5400" spc="-10" dirty="0">
                <a:solidFill>
                  <a:srgbClr val="FFFF00"/>
                </a:solidFill>
              </a:rPr>
              <a:t>Literature</a:t>
            </a:r>
            <a:r>
              <a:rPr sz="5400" spc="-65" dirty="0">
                <a:solidFill>
                  <a:srgbClr val="FFFF00"/>
                </a:solidFill>
              </a:rPr>
              <a:t> </a:t>
            </a:r>
            <a:r>
              <a:rPr sz="5400" spc="-5" dirty="0">
                <a:solidFill>
                  <a:srgbClr val="FFFF00"/>
                </a:solidFill>
              </a:rPr>
              <a:t>Survey</a:t>
            </a:r>
            <a:endParaRPr sz="5400"/>
          </a:p>
        </p:txBody>
      </p:sp>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559959758"/>
              </p:ext>
            </p:extLst>
          </p:nvPr>
        </p:nvGraphicFramePr>
        <p:xfrm>
          <a:off x="457200" y="1129283"/>
          <a:ext cx="11267349" cy="5718557"/>
        </p:xfrm>
        <a:graphic>
          <a:graphicData uri="http://schemas.openxmlformats.org/drawingml/2006/table">
            <a:tbl>
              <a:tblPr firstRow="1" bandRow="1">
                <a:tableStyleId>{2D5ABB26-0587-4C30-8999-92F81FD0307C}</a:tableStyleId>
              </a:tblPr>
              <a:tblGrid>
                <a:gridCol w="842556"/>
                <a:gridCol w="2494279"/>
                <a:gridCol w="2286000"/>
                <a:gridCol w="5644514"/>
              </a:tblGrid>
              <a:tr h="365760">
                <a:tc>
                  <a:txBody>
                    <a:bodyPr/>
                    <a:lstStyle/>
                    <a:p>
                      <a:pPr algn="ctr">
                        <a:lnSpc>
                          <a:spcPct val="100000"/>
                        </a:lnSpc>
                        <a:spcBef>
                          <a:spcPts val="300"/>
                        </a:spcBef>
                      </a:pPr>
                      <a:r>
                        <a:rPr sz="1800" b="1" spc="-60" dirty="0">
                          <a:solidFill>
                            <a:srgbClr val="FFFFFF"/>
                          </a:solidFill>
                          <a:latin typeface="Times New Roman"/>
                          <a:cs typeface="Times New Roman"/>
                        </a:rPr>
                        <a:t>Sr.</a:t>
                      </a:r>
                      <a:r>
                        <a:rPr sz="1800" b="1" spc="-40" dirty="0">
                          <a:solidFill>
                            <a:srgbClr val="FFFFFF"/>
                          </a:solidFill>
                          <a:latin typeface="Times New Roman"/>
                          <a:cs typeface="Times New Roman"/>
                        </a:rPr>
                        <a:t> </a:t>
                      </a:r>
                      <a:r>
                        <a:rPr sz="1800" b="1" spc="-5" dirty="0">
                          <a:solidFill>
                            <a:srgbClr val="FFFFFF"/>
                          </a:solidFill>
                          <a:latin typeface="Times New Roman"/>
                          <a:cs typeface="Times New Roman"/>
                        </a:rPr>
                        <a:t>No</a:t>
                      </a:r>
                      <a:endParaRPr sz="1800" dirty="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c>
                  <a:txBody>
                    <a:bodyPr/>
                    <a:lstStyle/>
                    <a:p>
                      <a:pPr algn="ctr">
                        <a:lnSpc>
                          <a:spcPct val="100000"/>
                        </a:lnSpc>
                        <a:spcBef>
                          <a:spcPts val="300"/>
                        </a:spcBef>
                      </a:pPr>
                      <a:r>
                        <a:rPr sz="1800" b="1" spc="-10" dirty="0">
                          <a:solidFill>
                            <a:srgbClr val="FFFFFF"/>
                          </a:solidFill>
                          <a:latin typeface="Times New Roman"/>
                          <a:cs typeface="Times New Roman"/>
                        </a:rPr>
                        <a:t>Title</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c>
                  <a:txBody>
                    <a:bodyPr/>
                    <a:lstStyle/>
                    <a:p>
                      <a:pPr marL="474980">
                        <a:lnSpc>
                          <a:spcPct val="100000"/>
                        </a:lnSpc>
                        <a:spcBef>
                          <a:spcPts val="300"/>
                        </a:spcBef>
                      </a:pPr>
                      <a:r>
                        <a:rPr sz="1800" b="1" spc="-5" dirty="0">
                          <a:solidFill>
                            <a:srgbClr val="FFFFFF"/>
                          </a:solidFill>
                          <a:latin typeface="Times New Roman"/>
                          <a:cs typeface="Times New Roman"/>
                        </a:rPr>
                        <a:t>Author</a:t>
                      </a:r>
                      <a:r>
                        <a:rPr sz="1800" b="1" spc="-65" dirty="0">
                          <a:solidFill>
                            <a:srgbClr val="FFFFFF"/>
                          </a:solidFill>
                          <a:latin typeface="Times New Roman"/>
                          <a:cs typeface="Times New Roman"/>
                        </a:rPr>
                        <a:t> </a:t>
                      </a:r>
                      <a:r>
                        <a:rPr sz="1800" b="1" spc="-5" dirty="0">
                          <a:solidFill>
                            <a:srgbClr val="FFFFFF"/>
                          </a:solidFill>
                          <a:latin typeface="Times New Roman"/>
                          <a:cs typeface="Times New Roman"/>
                        </a:rPr>
                        <a:t>Name</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c>
                  <a:txBody>
                    <a:bodyPr/>
                    <a:lstStyle/>
                    <a:p>
                      <a:pPr algn="ctr">
                        <a:lnSpc>
                          <a:spcPct val="100000"/>
                        </a:lnSpc>
                        <a:spcBef>
                          <a:spcPts val="300"/>
                        </a:spcBef>
                      </a:pPr>
                      <a:r>
                        <a:rPr sz="1800" b="1" dirty="0">
                          <a:solidFill>
                            <a:srgbClr val="FFFFFF"/>
                          </a:solidFill>
                          <a:latin typeface="Times New Roman"/>
                          <a:cs typeface="Times New Roman"/>
                        </a:rPr>
                        <a:t>Description</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EC544"/>
                    </a:solidFill>
                  </a:tcPr>
                </a:tc>
              </a:tr>
              <a:tr h="2848357">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20"/>
                        </a:spcBef>
                      </a:pPr>
                      <a:endParaRPr sz="2700">
                        <a:latin typeface="Times New Roman"/>
                        <a:cs typeface="Times New Roman"/>
                      </a:endParaRPr>
                    </a:p>
                    <a:p>
                      <a:pPr algn="ctr">
                        <a:lnSpc>
                          <a:spcPct val="100000"/>
                        </a:lnSpc>
                      </a:pPr>
                      <a:r>
                        <a:rPr sz="1800" dirty="0">
                          <a:latin typeface="Times New Roman"/>
                          <a:cs typeface="Times New Roman"/>
                        </a:rPr>
                        <a:t>3.</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c>
                  <a:txBody>
                    <a:bodyPr/>
                    <a:lstStyle/>
                    <a:p>
                      <a:r>
                        <a:rPr lang="en-US" sz="1800" b="0" i="0" dirty="0" smtClean="0">
                          <a:solidFill>
                            <a:schemeClr val="tx1"/>
                          </a:solidFill>
                          <a:effectLst/>
                          <a:latin typeface="+mn-lt"/>
                          <a:ea typeface="+mn-ea"/>
                          <a:cs typeface="+mn-cs"/>
                        </a:rPr>
                        <a:t>House Prices Prediction with Machine Learning Algorithms</a:t>
                      </a:r>
                      <a:endParaRPr lang="en-US" sz="1800" b="0" i="0" dirty="0">
                        <a:solidFill>
                          <a:schemeClr val="tx1"/>
                        </a:solidFill>
                        <a:effectLst/>
                        <a:latin typeface="+mn-lt"/>
                        <a:ea typeface="+mn-ea"/>
                        <a:cs typeface="+mn-cs"/>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c>
                  <a:txBody>
                    <a:bodyPr/>
                    <a:lstStyle/>
                    <a:p>
                      <a:pPr marL="262890" marR="255904" indent="1270" algn="ctr">
                        <a:lnSpc>
                          <a:spcPct val="100000"/>
                        </a:lnSpc>
                        <a:spcBef>
                          <a:spcPts val="280"/>
                        </a:spcBef>
                      </a:pPr>
                      <a:r>
                        <a:rPr lang="en-IN" b="0" i="0" dirty="0" smtClean="0">
                          <a:solidFill>
                            <a:schemeClr val="tx1"/>
                          </a:solidFill>
                          <a:effectLst/>
                          <a:latin typeface="+mn-lt"/>
                          <a:ea typeface="+mn-ea"/>
                          <a:cs typeface="+mn-cs"/>
                        </a:rPr>
                        <a:t>Chenchen Fan,</a:t>
                      </a:r>
                    </a:p>
                    <a:p>
                      <a:pPr marL="262890" marR="255904" indent="1270" algn="ctr">
                        <a:lnSpc>
                          <a:spcPct val="100000"/>
                        </a:lnSpc>
                        <a:spcBef>
                          <a:spcPts val="280"/>
                        </a:spcBef>
                      </a:pPr>
                      <a:r>
                        <a:rPr lang="en-IN" b="0" i="0" dirty="0" smtClean="0">
                          <a:solidFill>
                            <a:schemeClr val="tx1"/>
                          </a:solidFill>
                          <a:effectLst/>
                          <a:latin typeface="+mn-lt"/>
                          <a:ea typeface="+mn-ea"/>
                          <a:cs typeface="+mn-cs"/>
                        </a:rPr>
                        <a:t>Zechen Cui,</a:t>
                      </a:r>
                    </a:p>
                    <a:p>
                      <a:pPr marL="262890" marR="255904" indent="1270" algn="ctr">
                        <a:lnSpc>
                          <a:spcPct val="100000"/>
                        </a:lnSpc>
                        <a:spcBef>
                          <a:spcPts val="280"/>
                        </a:spcBef>
                      </a:pPr>
                      <a:r>
                        <a:rPr lang="en-IN" b="0" i="0" dirty="0" smtClean="0">
                          <a:solidFill>
                            <a:schemeClr val="tx1"/>
                          </a:solidFill>
                          <a:effectLst/>
                          <a:latin typeface="+mn-lt"/>
                          <a:ea typeface="+mn-ea"/>
                          <a:cs typeface="+mn-cs"/>
                        </a:rPr>
                        <a:t>Xiaofeng Zhong</a:t>
                      </a:r>
                      <a:endParaRPr sz="1800" dirty="0">
                        <a:latin typeface="Cambria"/>
                        <a:cs typeface="Cambria"/>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c>
                  <a:txBody>
                    <a:bodyPr/>
                    <a:lstStyle/>
                    <a:p>
                      <a:pPr marL="92075" marR="81915" algn="just">
                        <a:lnSpc>
                          <a:spcPct val="100000"/>
                        </a:lnSpc>
                        <a:spcBef>
                          <a:spcPts val="280"/>
                        </a:spcBef>
                      </a:pPr>
                      <a:r>
                        <a:rPr lang="en-US" b="0" i="0" dirty="0" smtClean="0">
                          <a:solidFill>
                            <a:schemeClr val="tx1"/>
                          </a:solidFill>
                          <a:effectLst/>
                          <a:latin typeface="+mn-lt"/>
                          <a:ea typeface="+mn-ea"/>
                          <a:cs typeface="+mn-cs"/>
                        </a:rPr>
                        <a:t>Based on the data set compiled by D. D. Cock and the competition run by kaggle.com, we propose a house prices prediction algorithm in Ames, </a:t>
                      </a:r>
                      <a:r>
                        <a:rPr lang="en-US" b="0" i="0" dirty="0" err="1" smtClean="0">
                          <a:solidFill>
                            <a:schemeClr val="tx1"/>
                          </a:solidFill>
                          <a:effectLst/>
                          <a:latin typeface="+mn-lt"/>
                          <a:ea typeface="+mn-ea"/>
                          <a:cs typeface="+mn-cs"/>
                        </a:rPr>
                        <a:t>lowa</a:t>
                      </a:r>
                      <a:r>
                        <a:rPr lang="en-US" b="0" i="0" dirty="0" smtClean="0">
                          <a:solidFill>
                            <a:schemeClr val="tx1"/>
                          </a:solidFill>
                          <a:effectLst/>
                          <a:latin typeface="+mn-lt"/>
                          <a:ea typeface="+mn-ea"/>
                          <a:cs typeface="+mn-cs"/>
                        </a:rPr>
                        <a:t> by deliberating on data processing, feature engineering and combination forecasting. Our prediction ranks the 35th of the total 2221 results on the public leaderboard of Kaggle.com and the RMSE of predicted results after taking logarithm from all the test data is 0.12019, which shows good performance and small of over-fitting.</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FEACF"/>
                    </a:solidFill>
                  </a:tcPr>
                </a:tc>
              </a:tr>
              <a:tr h="2435385">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gn="ctr">
                        <a:lnSpc>
                          <a:spcPct val="100000"/>
                        </a:lnSpc>
                        <a:spcBef>
                          <a:spcPts val="1555"/>
                        </a:spcBef>
                      </a:pPr>
                      <a:r>
                        <a:rPr sz="1800" dirty="0">
                          <a:latin typeface="Times New Roman"/>
                          <a:cs typeface="Times New Roman"/>
                        </a:rPr>
                        <a:t>4.</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c>
                  <a:txBody>
                    <a:bodyPr/>
                    <a:lstStyle/>
                    <a:p>
                      <a:pPr marL="1270" algn="ctr">
                        <a:lnSpc>
                          <a:spcPts val="2095"/>
                        </a:lnSpc>
                      </a:pPr>
                      <a:r>
                        <a:rPr lang="en-US" sz="2000" b="0" i="0" dirty="0" smtClean="0">
                          <a:solidFill>
                            <a:schemeClr val="tx1"/>
                          </a:solidFill>
                          <a:effectLst/>
                          <a:latin typeface="+mn-lt"/>
                          <a:ea typeface="+mn-ea"/>
                          <a:cs typeface="+mn-cs"/>
                        </a:rPr>
                        <a:t>Predicting property prices with machine learning algorithms</a:t>
                      </a:r>
                      <a:endParaRPr sz="2000" b="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c>
                  <a:txBody>
                    <a:bodyPr/>
                    <a:lstStyle/>
                    <a:p>
                      <a:pPr algn="ctr">
                        <a:lnSpc>
                          <a:spcPts val="2095"/>
                        </a:lnSpc>
                      </a:pPr>
                      <a:r>
                        <a:rPr lang="en-IN" sz="2000" dirty="0" smtClean="0">
                          <a:latin typeface="Times New Roman" panose="02020603050405020304" pitchFamily="18" charset="0"/>
                          <a:cs typeface="Times New Roman" panose="02020603050405020304" pitchFamily="18" charset="0"/>
                        </a:rPr>
                        <a:t>siu wai wong,</a:t>
                      </a:r>
                    </a:p>
                    <a:p>
                      <a:pPr algn="ctr">
                        <a:lnSpc>
                          <a:spcPts val="2095"/>
                        </a:lnSpc>
                      </a:pPr>
                      <a:r>
                        <a:rPr lang="en-IN" sz="2000" dirty="0" smtClean="0">
                          <a:latin typeface="Times New Roman" panose="02020603050405020304" pitchFamily="18" charset="0"/>
                          <a:cs typeface="Times New Roman" panose="02020603050405020304" pitchFamily="18" charset="0"/>
                        </a:rPr>
                        <a:t>Bo-Sin Tang</a:t>
                      </a:r>
                      <a:endParaRPr sz="20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c>
                  <a:txBody>
                    <a:bodyPr/>
                    <a:lstStyle/>
                    <a:p>
                      <a:pPr marL="92075" marR="82550" algn="just">
                        <a:lnSpc>
                          <a:spcPct val="100000"/>
                        </a:lnSpc>
                        <a:spcBef>
                          <a:spcPts val="280"/>
                        </a:spcBef>
                      </a:pPr>
                      <a:r>
                        <a:rPr lang="en-US" sz="1800" dirty="0" smtClean="0">
                          <a:latin typeface="Times New Roman" panose="02020603050405020304" pitchFamily="18" charset="0"/>
                          <a:cs typeface="Times New Roman" panose="02020603050405020304" pitchFamily="18" charset="0"/>
                        </a:rPr>
                        <a:t>This study explores the use of machine learning algorithms in property research, comparing three models: stochastic gradient descent (SGD), random forest (RF), and gradient boosting machine (GBM). The results show that advanced algorithms can accurately predict housing prices, with RF and GBM generating more accurate estimates with lower prediction errors. However, the study acknowledges limitations, such as the need for careful feature selection, computational time, and the need for additional data.</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5E9"/>
                    </a:solidFill>
                  </a:tcPr>
                </a:tc>
              </a:tr>
            </a:tbl>
          </a:graphicData>
        </a:graphic>
      </p:graphicFrame>
      <p:sp>
        <p:nvSpPr>
          <p:cNvPr id="3" name="object 3"/>
          <p:cNvSpPr txBox="1">
            <a:spLocks noGrp="1"/>
          </p:cNvSpPr>
          <p:nvPr>
            <p:ph type="title"/>
          </p:nvPr>
        </p:nvSpPr>
        <p:spPr>
          <a:xfrm>
            <a:off x="3451097" y="112014"/>
            <a:ext cx="5289550" cy="848360"/>
          </a:xfrm>
          <a:prstGeom prst="rect">
            <a:avLst/>
          </a:prstGeom>
        </p:spPr>
        <p:txBody>
          <a:bodyPr vert="horz" wrap="square" lIns="0" tIns="12700" rIns="0" bIns="0" rtlCol="0">
            <a:spAutoFit/>
          </a:bodyPr>
          <a:lstStyle/>
          <a:p>
            <a:pPr marL="12700">
              <a:lnSpc>
                <a:spcPct val="100000"/>
              </a:lnSpc>
              <a:spcBef>
                <a:spcPts val="100"/>
              </a:spcBef>
            </a:pPr>
            <a:r>
              <a:rPr sz="5400" spc="-10" dirty="0">
                <a:solidFill>
                  <a:srgbClr val="FFFF00"/>
                </a:solidFill>
              </a:rPr>
              <a:t>Literature</a:t>
            </a:r>
            <a:r>
              <a:rPr sz="5400" spc="-65" dirty="0">
                <a:solidFill>
                  <a:srgbClr val="FFFF00"/>
                </a:solidFill>
              </a:rPr>
              <a:t> </a:t>
            </a:r>
            <a:r>
              <a:rPr sz="5400" spc="-5" dirty="0">
                <a:solidFill>
                  <a:srgbClr val="FFFF00"/>
                </a:solidFill>
              </a:rPr>
              <a:t>Survey</a:t>
            </a:r>
            <a:endParaRPr sz="5400" dirty="0"/>
          </a:p>
        </p:txBody>
      </p:sp>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7548" y="2430602"/>
            <a:ext cx="6777990" cy="940435"/>
          </a:xfrm>
          <a:prstGeom prst="rect">
            <a:avLst/>
          </a:prstGeom>
        </p:spPr>
        <p:txBody>
          <a:bodyPr vert="horz" wrap="square" lIns="0" tIns="12700" rIns="0" bIns="0" rtlCol="0">
            <a:spAutoFit/>
          </a:bodyPr>
          <a:lstStyle/>
          <a:p>
            <a:pPr marL="12700">
              <a:lnSpc>
                <a:spcPct val="100000"/>
              </a:lnSpc>
              <a:spcBef>
                <a:spcPts val="100"/>
              </a:spcBef>
            </a:pPr>
            <a:r>
              <a:rPr sz="6000" spc="-5" dirty="0">
                <a:solidFill>
                  <a:srgbClr val="FFFF00"/>
                </a:solidFill>
              </a:rPr>
              <a:t>BLOCK</a:t>
            </a:r>
            <a:r>
              <a:rPr sz="6000" spc="-80" dirty="0">
                <a:solidFill>
                  <a:srgbClr val="FFFF00"/>
                </a:solidFill>
              </a:rPr>
              <a:t> </a:t>
            </a:r>
            <a:r>
              <a:rPr sz="6000" dirty="0">
                <a:solidFill>
                  <a:srgbClr val="FFFF00"/>
                </a:solidFill>
              </a:rPr>
              <a:t>DIAGRAM</a:t>
            </a:r>
            <a:endParaRPr sz="6000"/>
          </a:p>
        </p:txBody>
      </p:sp>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900" y="433387"/>
            <a:ext cx="5410200" cy="5991225"/>
          </a:xfrm>
          <a:prstGeom prst="rect">
            <a:avLst/>
          </a:prstGeom>
        </p:spPr>
      </p:pic>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1846" y="347218"/>
            <a:ext cx="9883775" cy="879475"/>
          </a:xfrm>
          <a:prstGeom prst="rect">
            <a:avLst/>
          </a:prstGeom>
        </p:spPr>
        <p:txBody>
          <a:bodyPr vert="horz" wrap="square" lIns="0" tIns="12700" rIns="0" bIns="0" rtlCol="0">
            <a:spAutoFit/>
          </a:bodyPr>
          <a:lstStyle/>
          <a:p>
            <a:pPr marL="12700">
              <a:lnSpc>
                <a:spcPct val="100000"/>
              </a:lnSpc>
              <a:spcBef>
                <a:spcPts val="100"/>
              </a:spcBef>
            </a:pPr>
            <a:r>
              <a:rPr sz="5600" spc="-40" dirty="0">
                <a:solidFill>
                  <a:srgbClr val="FFFF00"/>
                </a:solidFill>
              </a:rPr>
              <a:t>Tools/softwares,</a:t>
            </a:r>
            <a:r>
              <a:rPr sz="5600" spc="-55" dirty="0">
                <a:solidFill>
                  <a:srgbClr val="FFFF00"/>
                </a:solidFill>
              </a:rPr>
              <a:t> </a:t>
            </a:r>
            <a:r>
              <a:rPr sz="5600" dirty="0">
                <a:solidFill>
                  <a:srgbClr val="FFFF00"/>
                </a:solidFill>
              </a:rPr>
              <a:t>Languages</a:t>
            </a:r>
            <a:r>
              <a:rPr sz="5600" spc="-55" dirty="0">
                <a:solidFill>
                  <a:srgbClr val="FFFF00"/>
                </a:solidFill>
              </a:rPr>
              <a:t> </a:t>
            </a:r>
            <a:r>
              <a:rPr sz="5600" dirty="0">
                <a:solidFill>
                  <a:srgbClr val="FFFF00"/>
                </a:solidFill>
              </a:rPr>
              <a:t>used</a:t>
            </a:r>
            <a:endParaRPr sz="5600"/>
          </a:p>
        </p:txBody>
      </p:sp>
      <p:sp>
        <p:nvSpPr>
          <p:cNvPr id="3" name="object 3"/>
          <p:cNvSpPr txBox="1"/>
          <p:nvPr/>
        </p:nvSpPr>
        <p:spPr>
          <a:xfrm>
            <a:off x="990600" y="2286000"/>
            <a:ext cx="2895600" cy="1418337"/>
          </a:xfrm>
          <a:prstGeom prst="rect">
            <a:avLst/>
          </a:prstGeom>
        </p:spPr>
        <p:txBody>
          <a:bodyPr vert="horz" wrap="square" lIns="0" tIns="104140" rIns="0" bIns="0" rtlCol="0">
            <a:spAutoFit/>
          </a:bodyPr>
          <a:lstStyle/>
          <a:p>
            <a:pPr marL="355600" indent="-343535">
              <a:lnSpc>
                <a:spcPct val="100000"/>
              </a:lnSpc>
              <a:spcBef>
                <a:spcPts val="820"/>
              </a:spcBef>
              <a:buFont typeface="Arial MT"/>
              <a:buChar char="•"/>
              <a:tabLst>
                <a:tab pos="355600" algn="l"/>
                <a:tab pos="356235" algn="l"/>
              </a:tabLst>
            </a:pPr>
            <a:r>
              <a:rPr lang="en-US" sz="2400" dirty="0" smtClean="0">
                <a:solidFill>
                  <a:schemeClr val="bg1"/>
                </a:solidFill>
                <a:latin typeface="Times New Roman" panose="02020603050405020304" pitchFamily="18" charset="0"/>
                <a:cs typeface="Times New Roman" panose="02020603050405020304" pitchFamily="18" charset="0"/>
              </a:rPr>
              <a:t>Python</a:t>
            </a:r>
          </a:p>
          <a:p>
            <a:pPr marL="355600" indent="-343535">
              <a:lnSpc>
                <a:spcPct val="100000"/>
              </a:lnSpc>
              <a:spcBef>
                <a:spcPts val="820"/>
              </a:spcBef>
              <a:buFont typeface="Arial MT"/>
              <a:buChar char="•"/>
              <a:tabLst>
                <a:tab pos="355600" algn="l"/>
                <a:tab pos="356235" algn="l"/>
              </a:tabLst>
            </a:pPr>
            <a:r>
              <a:rPr lang="en-US" sz="2400" dirty="0" smtClean="0">
                <a:solidFill>
                  <a:schemeClr val="bg1"/>
                </a:solidFill>
                <a:latin typeface="Times New Roman" panose="02020603050405020304" pitchFamily="18" charset="0"/>
                <a:cs typeface="Times New Roman" panose="02020603050405020304" pitchFamily="18" charset="0"/>
              </a:rPr>
              <a:t>Machine </a:t>
            </a:r>
            <a:r>
              <a:rPr lang="en-US" sz="2400" dirty="0" smtClean="0">
                <a:solidFill>
                  <a:schemeClr val="bg1"/>
                </a:solidFill>
                <a:latin typeface="Times New Roman" panose="02020603050405020304" pitchFamily="18" charset="0"/>
                <a:cs typeface="Times New Roman" panose="02020603050405020304" pitchFamily="18" charset="0"/>
              </a:rPr>
              <a:t>learning</a:t>
            </a:r>
          </a:p>
          <a:p>
            <a:pPr marL="355600" indent="-343535">
              <a:lnSpc>
                <a:spcPct val="100000"/>
              </a:lnSpc>
              <a:spcBef>
                <a:spcPts val="820"/>
              </a:spcBef>
              <a:buFont typeface="Arial MT"/>
              <a:buChar char="•"/>
              <a:tabLst>
                <a:tab pos="355600" algn="l"/>
                <a:tab pos="356235" algn="l"/>
              </a:tabLst>
            </a:pPr>
            <a:r>
              <a:rPr lang="en-US" sz="2400" dirty="0" smtClean="0">
                <a:solidFill>
                  <a:schemeClr val="bg1"/>
                </a:solidFill>
                <a:latin typeface="Times New Roman" panose="02020603050405020304" pitchFamily="18" charset="0"/>
                <a:cs typeface="Times New Roman" panose="02020603050405020304" pitchFamily="18" charset="0"/>
              </a:rPr>
              <a:t>Python </a:t>
            </a:r>
            <a:r>
              <a:rPr lang="en-US" sz="2400" dirty="0" err="1" smtClean="0">
                <a:solidFill>
                  <a:schemeClr val="bg1"/>
                </a:solidFill>
                <a:latin typeface="Times New Roman" panose="02020603050405020304" pitchFamily="18" charset="0"/>
                <a:cs typeface="Times New Roman" panose="02020603050405020304" pitchFamily="18" charset="0"/>
              </a:rPr>
              <a:t>librarys</a:t>
            </a:r>
            <a:endParaRPr sz="2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041" y="1672321"/>
            <a:ext cx="11711305" cy="3419269"/>
          </a:xfrm>
          <a:prstGeom prst="rect">
            <a:avLst/>
          </a:prstGeom>
        </p:spPr>
        <p:txBody>
          <a:bodyPr vert="horz" wrap="square" lIns="0" tIns="12065" rIns="0" bIns="0" rtlCol="0">
            <a:spAutoFit/>
          </a:bodyPr>
          <a:lstStyle/>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House price predictors, driven by machine learning, are crucial in real estate.</a:t>
            </a:r>
          </a:p>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They provide accurate estimates by analyzing factors like location, size, amenities, and historical pricing trends.</a:t>
            </a:r>
          </a:p>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Buyers and sellers benefit from these predictors for making well-informed decisions.</a:t>
            </a:r>
          </a:p>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Lenders use them to evaluate loan risks, while investors assess potential returns on investment.</a:t>
            </a:r>
          </a:p>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House price predictors contribute to market analysis, offering insights into trends and dynamics shaping property values.</a:t>
            </a:r>
          </a:p>
          <a:p>
            <a:pPr marL="469800" indent="-457200">
              <a:lnSpc>
                <a:spcPct val="110000"/>
              </a:lnSpc>
              <a:spcBef>
                <a:spcPts val="96"/>
              </a:spcBef>
              <a:buClr>
                <a:srgbClr val="FFFFFF"/>
              </a:buClr>
              <a:buFont typeface="Arial MT"/>
              <a:buChar char="•"/>
              <a:tabLst>
                <a:tab pos="469440" algn="l"/>
                <a:tab pos="469800" algn="l"/>
              </a:tabLst>
            </a:pPr>
            <a:endParaRPr sz="2800" dirty="0">
              <a:latin typeface="Times New Roman"/>
              <a:cs typeface="Times New Roman"/>
            </a:endParaRPr>
          </a:p>
        </p:txBody>
      </p:sp>
      <p:sp>
        <p:nvSpPr>
          <p:cNvPr id="3" name="object 3"/>
          <p:cNvSpPr txBox="1">
            <a:spLocks noGrp="1"/>
          </p:cNvSpPr>
          <p:nvPr>
            <p:ph type="title"/>
          </p:nvPr>
        </p:nvSpPr>
        <p:spPr>
          <a:xfrm>
            <a:off x="4444746" y="248488"/>
            <a:ext cx="3304540" cy="848994"/>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FFFF00"/>
                </a:solidFill>
              </a:rPr>
              <a:t>Conclusion</a:t>
            </a:r>
            <a:endParaRPr sz="5400"/>
          </a:p>
        </p:txBody>
      </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2579" y="760976"/>
            <a:ext cx="11711940" cy="4113947"/>
          </a:xfrm>
          <a:prstGeom prst="rect">
            <a:avLst/>
          </a:prstGeom>
        </p:spPr>
        <p:txBody>
          <a:bodyPr vert="horz" wrap="square" lIns="0" tIns="165100" rIns="0" bIns="0" rtlCol="0">
            <a:spAutoFit/>
          </a:bodyPr>
          <a:lstStyle/>
          <a:p>
            <a:pPr marL="469900" indent="-457200">
              <a:lnSpc>
                <a:spcPct val="100000"/>
              </a:lnSpc>
              <a:spcBef>
                <a:spcPts val="1300"/>
              </a:spcBef>
              <a:buFont typeface="Wingdings" panose="05000000000000000000"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David E. </a:t>
            </a:r>
            <a:r>
              <a:rPr lang="en-US" sz="2800" dirty="0" err="1">
                <a:solidFill>
                  <a:schemeClr val="bg1"/>
                </a:solidFill>
                <a:latin typeface="Times New Roman" panose="02020603050405020304" pitchFamily="18" charset="0"/>
                <a:cs typeface="Times New Roman" panose="02020603050405020304" pitchFamily="18" charset="0"/>
              </a:rPr>
              <a:t>Rapach</a:t>
            </a:r>
            <a:r>
              <a:rPr lang="en-US" sz="2800" dirty="0">
                <a:solidFill>
                  <a:schemeClr val="bg1"/>
                </a:solidFill>
                <a:latin typeface="Times New Roman" panose="02020603050405020304" pitchFamily="18" charset="0"/>
                <a:cs typeface="Times New Roman" panose="02020603050405020304" pitchFamily="18" charset="0"/>
              </a:rPr>
              <a:t> , Jack K. Strauss “ Forecasting real housing price growth in the Eighth District states” </a:t>
            </a:r>
            <a:r>
              <a:rPr lang="en-US" sz="2800" dirty="0" smtClean="0">
                <a:solidFill>
                  <a:schemeClr val="bg1"/>
                </a:solidFill>
                <a:latin typeface="Times New Roman" panose="02020603050405020304" pitchFamily="18" charset="0"/>
                <a:cs typeface="Times New Roman" panose="02020603050405020304" pitchFamily="18" charset="0"/>
              </a:rPr>
              <a:t>. </a:t>
            </a:r>
          </a:p>
          <a:p>
            <a:pPr marL="469900" indent="-457200">
              <a:lnSpc>
                <a:spcPct val="100000"/>
              </a:lnSpc>
              <a:spcBef>
                <a:spcPts val="1300"/>
              </a:spcBef>
              <a:buFont typeface="Wingdings" panose="05000000000000000000" pitchFamily="2" charset="2"/>
              <a:buChar char="Ø"/>
            </a:pPr>
            <a:r>
              <a:rPr lang="en-US" sz="2800" dirty="0" smtClean="0">
                <a:solidFill>
                  <a:schemeClr val="bg1"/>
                </a:solidFill>
                <a:latin typeface="Times New Roman" panose="02020603050405020304" pitchFamily="18" charset="0"/>
                <a:cs typeface="Times New Roman" panose="02020603050405020304" pitchFamily="18" charset="0"/>
              </a:rPr>
              <a:t>Vasilios </a:t>
            </a:r>
            <a:r>
              <a:rPr lang="en-US" sz="2800" dirty="0" err="1">
                <a:solidFill>
                  <a:schemeClr val="bg1"/>
                </a:solidFill>
                <a:latin typeface="Times New Roman" panose="02020603050405020304" pitchFamily="18" charset="0"/>
                <a:cs typeface="Times New Roman" panose="02020603050405020304" pitchFamily="18" charset="0"/>
              </a:rPr>
              <a:t>Plakandaras</a:t>
            </a:r>
            <a:r>
              <a:rPr lang="en-US" sz="2800" dirty="0">
                <a:solidFill>
                  <a:schemeClr val="bg1"/>
                </a:solidFill>
                <a:latin typeface="Times New Roman" panose="02020603050405020304" pitchFamily="18" charset="0"/>
                <a:cs typeface="Times New Roman" panose="02020603050405020304" pitchFamily="18" charset="0"/>
              </a:rPr>
              <a:t>+ and </a:t>
            </a:r>
            <a:r>
              <a:rPr lang="en-US" sz="2800" dirty="0" err="1">
                <a:solidFill>
                  <a:schemeClr val="bg1"/>
                </a:solidFill>
                <a:latin typeface="Times New Roman" panose="02020603050405020304" pitchFamily="18" charset="0"/>
                <a:cs typeface="Times New Roman" panose="02020603050405020304" pitchFamily="18" charset="0"/>
              </a:rPr>
              <a:t>Theophilos</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Rangan</a:t>
            </a:r>
            <a:r>
              <a:rPr lang="en-US" sz="2800" dirty="0">
                <a:solidFill>
                  <a:schemeClr val="bg1"/>
                </a:solidFill>
                <a:latin typeface="Times New Roman" panose="02020603050405020304" pitchFamily="18" charset="0"/>
                <a:cs typeface="Times New Roman" panose="02020603050405020304" pitchFamily="18" charset="0"/>
              </a:rPr>
              <a:t> Gupta*, </a:t>
            </a:r>
            <a:r>
              <a:rPr lang="en-US" sz="2800" dirty="0" err="1">
                <a:solidFill>
                  <a:schemeClr val="bg1"/>
                </a:solidFill>
                <a:latin typeface="Times New Roman" panose="02020603050405020304" pitchFamily="18" charset="0"/>
                <a:cs typeface="Times New Roman" panose="02020603050405020304" pitchFamily="18" charset="0"/>
              </a:rPr>
              <a:t>Periklis</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Gogas</a:t>
            </a:r>
            <a:r>
              <a:rPr lang="en-US" sz="2800" dirty="0">
                <a:solidFill>
                  <a:schemeClr val="bg1"/>
                </a:solidFill>
                <a:latin typeface="Times New Roman" panose="02020603050405020304" pitchFamily="18" charset="0"/>
                <a:cs typeface="Times New Roman" panose="02020603050405020304" pitchFamily="18" charset="0"/>
              </a:rPr>
              <a:t> “Forecasting the U.S. Real House Price Index” </a:t>
            </a:r>
            <a:r>
              <a:rPr lang="en-US" sz="2800" dirty="0" smtClean="0">
                <a:solidFill>
                  <a:schemeClr val="bg1"/>
                </a:solidFill>
                <a:latin typeface="Times New Roman" panose="02020603050405020304" pitchFamily="18" charset="0"/>
                <a:cs typeface="Times New Roman" panose="02020603050405020304" pitchFamily="18" charset="0"/>
              </a:rPr>
              <a:t>. </a:t>
            </a:r>
          </a:p>
          <a:p>
            <a:pPr marL="469900" indent="-457200">
              <a:lnSpc>
                <a:spcPct val="100000"/>
              </a:lnSpc>
              <a:spcBef>
                <a:spcPts val="1300"/>
              </a:spcBef>
              <a:buFont typeface="Wingdings" panose="05000000000000000000" pitchFamily="2" charset="2"/>
              <a:buChar char="Ø"/>
            </a:pPr>
            <a:r>
              <a:rPr lang="en-US" sz="2800" dirty="0" smtClean="0">
                <a:solidFill>
                  <a:schemeClr val="bg1"/>
                </a:solidFill>
                <a:latin typeface="Times New Roman" panose="02020603050405020304" pitchFamily="18" charset="0"/>
                <a:cs typeface="Times New Roman" panose="02020603050405020304" pitchFamily="18" charset="0"/>
              </a:rPr>
              <a:t>Gupta </a:t>
            </a:r>
            <a:r>
              <a:rPr lang="en-US" sz="2800" dirty="0">
                <a:solidFill>
                  <a:schemeClr val="bg1"/>
                </a:solidFill>
                <a:latin typeface="Times New Roman" panose="02020603050405020304" pitchFamily="18" charset="0"/>
                <a:cs typeface="Times New Roman" panose="02020603050405020304" pitchFamily="18" charset="0"/>
              </a:rPr>
              <a:t>and Das (2010) Forecasting the US Real House Price Index: Structural and Non-Structural Models with and without Fundamentals </a:t>
            </a:r>
            <a:r>
              <a:rPr lang="en-US" sz="2800" dirty="0" smtClean="0">
                <a:solidFill>
                  <a:schemeClr val="bg1"/>
                </a:solidFill>
                <a:latin typeface="Times New Roman" panose="02020603050405020304" pitchFamily="18" charset="0"/>
                <a:cs typeface="Times New Roman" panose="02020603050405020304" pitchFamily="18" charset="0"/>
              </a:rPr>
              <a:t>.</a:t>
            </a:r>
          </a:p>
          <a:p>
            <a:pPr marL="469900" indent="-457200">
              <a:lnSpc>
                <a:spcPct val="100000"/>
              </a:lnSpc>
              <a:spcBef>
                <a:spcPts val="1300"/>
              </a:spcBef>
              <a:buFont typeface="Wingdings" panose="05000000000000000000" pitchFamily="2" charset="2"/>
              <a:buChar char="Ø"/>
            </a:pP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Rangan</a:t>
            </a:r>
            <a:r>
              <a:rPr lang="en-US" sz="2800" dirty="0">
                <a:solidFill>
                  <a:schemeClr val="bg1"/>
                </a:solidFill>
                <a:latin typeface="Times New Roman" panose="02020603050405020304" pitchFamily="18" charset="0"/>
                <a:cs typeface="Times New Roman" panose="02020603050405020304" pitchFamily="18" charset="0"/>
              </a:rPr>
              <a:t> Gupta “Forecasting US real house price returns over 1831– 2013: evidence from copula models” </a:t>
            </a:r>
            <a:endParaRPr sz="2800"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4488941" y="14681"/>
            <a:ext cx="3214370" cy="848994"/>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FFFF00"/>
                </a:solidFill>
              </a:rPr>
              <a:t>Refe</a:t>
            </a:r>
            <a:r>
              <a:rPr sz="5400" spc="-90" dirty="0">
                <a:solidFill>
                  <a:srgbClr val="FFFF00"/>
                </a:solidFill>
              </a:rPr>
              <a:t>r</a:t>
            </a:r>
            <a:r>
              <a:rPr sz="5400" dirty="0">
                <a:solidFill>
                  <a:srgbClr val="FFFF00"/>
                </a:solidFill>
              </a:rPr>
              <a:t>ences</a:t>
            </a:r>
            <a:endParaRPr sz="5400"/>
          </a:p>
        </p:txBody>
      </p:sp>
    </p:spTree>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700" rIns="0" bIns="0" rtlCol="0">
            <a:spAutoFit/>
          </a:bodyPr>
          <a:lstStyle/>
          <a:p>
            <a:pPr marL="13335">
              <a:lnSpc>
                <a:spcPct val="100000"/>
              </a:lnSpc>
              <a:spcBef>
                <a:spcPts val="100"/>
              </a:spcBef>
              <a:tabLst>
                <a:tab pos="1894205" algn="l"/>
              </a:tabLst>
            </a:pPr>
            <a:r>
              <a:rPr spc="-5" dirty="0"/>
              <a:t>Thank	you</a:t>
            </a:r>
          </a:p>
        </p:txBody>
      </p:sp>
    </p:spTree>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137</TotalTime>
  <Words>836</Words>
  <Application>Microsoft Office PowerPoint</Application>
  <PresentationFormat>Widescreen</PresentationFormat>
  <Paragraphs>93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 MT</vt:lpstr>
      <vt:lpstr>Calibri</vt:lpstr>
      <vt:lpstr>Cambria</vt:lpstr>
      <vt:lpstr>Times New Roman</vt:lpstr>
      <vt:lpstr>Wingdings</vt:lpstr>
      <vt:lpstr>Office Theme</vt:lpstr>
      <vt:lpstr>Department of Computer Science &amp;Engineering  Artificial Intelligence &amp; Machine Learning</vt:lpstr>
      <vt:lpstr>House Price Predictor</vt:lpstr>
      <vt:lpstr>Index</vt:lpstr>
      <vt:lpstr>INTRODUCTION</vt:lpstr>
      <vt:lpstr>Objective</vt:lpstr>
      <vt:lpstr>Literature Survey</vt:lpstr>
      <vt:lpstr>Literature Survey</vt:lpstr>
      <vt:lpstr>BLOCK DIAGRAM</vt:lpstr>
      <vt:lpstr>PowerPoint Presentation</vt:lpstr>
      <vt:lpstr>Tools/softwares, Languages used</vt:lpstr>
      <vt:lpstr>Conclusion</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Swasth Seva</dc:title>
  <dc:creator>Neel Naik</dc:creator>
  <cp:lastModifiedBy>Microsoft account</cp:lastModifiedBy>
  <cp:revision>14</cp:revision>
  <dcterms:created xsi:type="dcterms:W3CDTF">2023-03-03T07:26:48Z</dcterms:created>
  <dcterms:modified xsi:type="dcterms:W3CDTF">2024-01-28T18:16:06Z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2023-03-02T00:00:00Z</vt:filetime>
  </property>
  <property fmtid="{D5CDD505-2E9C-101B-9397-08002B2CF9AE}" pid="3" name="Creator">
    <vt:lpwstr>Microsoft® PowerPoint® 2013</vt:lpwstr>
  </property>
  <property fmtid="{D5CDD505-2E9C-101B-9397-08002B2CF9AE}" pid="4" name="LastSaved">
    <vt:filetime>2023-03-03T00:00:00Z</vt:filetime>
  </property>
</Properties>
</file>